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anva Sans Bold" panose="020B0604020202020204" charset="0"/>
      <p:regular r:id="rId14"/>
    </p:embeddedFont>
    <p:embeddedFont>
      <p:font typeface="Montserrat" panose="00000500000000000000" pitchFamily="2" charset="0"/>
      <p:regular r:id="rId15"/>
    </p:embeddedFont>
    <p:embeddedFont>
      <p:font typeface="Montserrat Bold" panose="00000800000000000000" charset="0"/>
      <p:regular r:id="rId16"/>
    </p:embeddedFont>
    <p:embeddedFont>
      <p:font typeface="Montserrat Bold Italics" panose="020B0604020202020204" charset="0"/>
      <p:regular r:id="rId17"/>
    </p:embeddedFont>
    <p:embeddedFont>
      <p:font typeface="Montserrat Italics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vitalriskia-frontend.onrender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atos.gov.co/resource/62tk-nxj5" TargetMode="External"/><Relationship Id="rId3" Type="http://schemas.openxmlformats.org/officeDocument/2006/relationships/image" Target="../media/image12.svg"/><Relationship Id="rId7" Type="http://schemas.openxmlformats.org/officeDocument/2006/relationships/hyperlink" Target="https://www.datos.gov.co/resource/s54a-sgyg" TargetMode="External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datos.gov.co/resource/sbwg-7ju4" TargetMode="External"/><Relationship Id="rId5" Type="http://schemas.openxmlformats.org/officeDocument/2006/relationships/hyperlink" Target="https://www.datos.gov.co/resource/uext-mhny" TargetMode="External"/><Relationship Id="rId4" Type="http://schemas.openxmlformats.org/officeDocument/2006/relationships/image" Target="../media/image13.svg"/><Relationship Id="rId9" Type="http://schemas.openxmlformats.org/officeDocument/2006/relationships/hyperlink" Target="https://www.datos.gov.co/resource/g4t8-zkc3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slideLayout" Target="../slideLayouts/slideLayout7.xml"/><Relationship Id="rId7" Type="http://schemas.openxmlformats.org/officeDocument/2006/relationships/hyperlink" Target="https://vitalriskia.onrender.com/docs" TargetMode="External"/><Relationship Id="rId12" Type="http://schemas.openxmlformats.org/officeDocument/2006/relationships/image" Target="../media/image35.svg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32.png"/><Relationship Id="rId11" Type="http://schemas.openxmlformats.org/officeDocument/2006/relationships/hyperlink" Target="https://drive.google.com/file/d/1Oyn1mSzyEnpVoTlGvqwJtLfPA3r2_MTm/view?usp=sharing" TargetMode="External"/><Relationship Id="rId5" Type="http://schemas.openxmlformats.org/officeDocument/2006/relationships/hyperlink" Target="https://vitalriskia-frontend.onrender.com" TargetMode="External"/><Relationship Id="rId10" Type="http://schemas.openxmlformats.org/officeDocument/2006/relationships/image" Target="../media/image34.png"/><Relationship Id="rId4" Type="http://schemas.openxmlformats.org/officeDocument/2006/relationships/image" Target="../media/image31.jpeg"/><Relationship Id="rId9" Type="http://schemas.openxmlformats.org/officeDocument/2006/relationships/hyperlink" Target="https://github.com/IsaksGir4/VitalRiskIA.git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vitalriskia-frontend.onrender.com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7458190">
            <a:off x="11366338" y="-4531843"/>
            <a:ext cx="12750959" cy="7777668"/>
            <a:chOff x="0" y="0"/>
            <a:chExt cx="1476351" cy="9005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76351" cy="900526"/>
            </a:xfrm>
            <a:custGeom>
              <a:avLst/>
              <a:gdLst/>
              <a:ahLst/>
              <a:cxnLst/>
              <a:rect l="l" t="t" r="r" b="b"/>
              <a:pathLst>
                <a:path w="1476351" h="900526">
                  <a:moveTo>
                    <a:pt x="0" y="0"/>
                  </a:moveTo>
                  <a:lnTo>
                    <a:pt x="1476351" y="0"/>
                  </a:lnTo>
                  <a:lnTo>
                    <a:pt x="1476351" y="900526"/>
                  </a:lnTo>
                  <a:lnTo>
                    <a:pt x="0" y="900526"/>
                  </a:lnTo>
                  <a:close/>
                </a:path>
              </a:pathLst>
            </a:custGeom>
            <a:solidFill>
              <a:srgbClr val="1D4ED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52400"/>
              <a:ext cx="1476351" cy="1052926"/>
            </a:xfrm>
            <a:prstGeom prst="rect">
              <a:avLst/>
            </a:prstGeom>
          </p:spPr>
          <p:txBody>
            <a:bodyPr lIns="123349" tIns="123349" rIns="123349" bIns="123349" rtlCol="0" anchor="ctr"/>
            <a:lstStyle/>
            <a:p>
              <a:pPr marL="0" lvl="0" indent="0" algn="ctr">
                <a:lnSpc>
                  <a:spcPts val="112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 rot="5400000">
            <a:off x="10259926" y="734730"/>
            <a:ext cx="7777700" cy="7777668"/>
            <a:chOff x="0" y="0"/>
            <a:chExt cx="6350000" cy="63499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solidFill>
              <a:srgbClr val="1D4ED8"/>
            </a:solid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923033" y="1397821"/>
            <a:ext cx="6451486" cy="6451486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22401" r="-27691"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66750" y="3189837"/>
            <a:ext cx="9808856" cy="4219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250"/>
              </a:lnSpc>
            </a:pPr>
            <a:r>
              <a:rPr lang="en-US" sz="7500" b="1" spc="-187">
                <a:solidFill>
                  <a:srgbClr val="1D4E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Sistema de Vigilancia Preventiva Territorial en Salud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96346" y="1609725"/>
            <a:ext cx="5448300" cy="555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99"/>
              </a:lnSpc>
            </a:pPr>
            <a:r>
              <a:rPr lang="en-US" sz="3999" b="1" spc="99">
                <a:solidFill>
                  <a:srgbClr val="0B324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VITALRISK AI: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6750" y="7722814"/>
            <a:ext cx="7191375" cy="76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</a:pPr>
            <a:r>
              <a:rPr lang="en-US" sz="2400">
                <a:solidFill>
                  <a:srgbClr val="B4B4B4"/>
                </a:solidFill>
                <a:latin typeface="Montserrat"/>
                <a:ea typeface="Montserrat"/>
                <a:cs typeface="Montserrat"/>
                <a:sym typeface="Montserrat"/>
              </a:rPr>
              <a:t>Isaac Camilo Giraldo Gómez</a:t>
            </a:r>
          </a:p>
          <a:p>
            <a:pPr marL="0" lvl="0" indent="0" algn="l">
              <a:lnSpc>
                <a:spcPts val="3120"/>
              </a:lnSpc>
            </a:pPr>
            <a:r>
              <a:rPr lang="en-US" sz="2400">
                <a:solidFill>
                  <a:srgbClr val="B4B4B4"/>
                </a:solidFill>
                <a:latin typeface="Montserrat"/>
                <a:ea typeface="Montserrat"/>
                <a:cs typeface="Montserrat"/>
                <a:sym typeface="Montserrat"/>
              </a:rPr>
              <a:t>Luisa Fernanda Giraldo Zuluaga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6750" y="9312261"/>
            <a:ext cx="1700451" cy="379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1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Equipo 326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26643" y="9311896"/>
            <a:ext cx="3868413" cy="379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1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Datos al Ecosistema 2026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11379" y="8843928"/>
            <a:ext cx="2148564" cy="379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19"/>
              </a:lnSpc>
              <a:spcBef>
                <a:spcPct val="0"/>
              </a:spcBef>
            </a:pPr>
            <a:r>
              <a:rPr lang="en-US" sz="2399" b="1" dirty="0" err="1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Categoría</a:t>
            </a:r>
            <a:endParaRPr lang="en-US" sz="2399" b="1" dirty="0">
              <a:solidFill>
                <a:srgbClr val="545454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111379" y="9311896"/>
            <a:ext cx="2647697" cy="379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1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Salud y Bienestar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26642" y="8843928"/>
            <a:ext cx="2293157" cy="379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19"/>
              </a:lnSpc>
              <a:spcBef>
                <a:spcPct val="0"/>
              </a:spcBef>
            </a:pPr>
            <a:r>
              <a:rPr lang="en-US" sz="2399" b="1" u="none" strike="noStrike" dirty="0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Convocatoria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6750" y="8843928"/>
            <a:ext cx="2083713" cy="379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19"/>
              </a:lnSpc>
              <a:spcBef>
                <a:spcPct val="0"/>
              </a:spcBef>
            </a:pPr>
            <a:r>
              <a:rPr lang="en-US" sz="2399" b="1" u="none" strike="noStrike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Identificador</a:t>
            </a:r>
          </a:p>
        </p:txBody>
      </p:sp>
      <p:sp>
        <p:nvSpPr>
          <p:cNvPr id="18" name="Freeform 18">
            <a:hlinkClick r:id="rId3" tooltip="https://vitalriskia-frontend.onrender.com"/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5035" y="490300"/>
            <a:ext cx="3350098" cy="3350098"/>
          </a:xfrm>
          <a:custGeom>
            <a:avLst/>
            <a:gdLst/>
            <a:ahLst/>
            <a:cxnLst/>
            <a:rect l="l" t="t" r="r" b="b"/>
            <a:pathLst>
              <a:path w="3350098" h="3350098">
                <a:moveTo>
                  <a:pt x="0" y="0"/>
                </a:moveTo>
                <a:lnTo>
                  <a:pt x="3350098" y="0"/>
                </a:lnTo>
                <a:lnTo>
                  <a:pt x="3350098" y="3350099"/>
                </a:lnTo>
                <a:lnTo>
                  <a:pt x="0" y="33500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19" name="Group 19"/>
          <p:cNvGrpSpPr/>
          <p:nvPr/>
        </p:nvGrpSpPr>
        <p:grpSpPr>
          <a:xfrm>
            <a:off x="666750" y="1198939"/>
            <a:ext cx="1329571" cy="1329571"/>
            <a:chOff x="0" y="0"/>
            <a:chExt cx="1772761" cy="1772761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1772761" cy="1772761"/>
              <a:chOff x="0" y="0"/>
              <a:chExt cx="812800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5BDCD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46"/>
                  </a:lnSpc>
                </a:pPr>
                <a:endParaRPr/>
              </a:p>
            </p:txBody>
          </p:sp>
        </p:grpSp>
        <p:sp>
          <p:nvSpPr>
            <p:cNvPr id="23" name="Freeform 23"/>
            <p:cNvSpPr/>
            <p:nvPr/>
          </p:nvSpPr>
          <p:spPr>
            <a:xfrm>
              <a:off x="0" y="79884"/>
              <a:ext cx="1772761" cy="1612994"/>
            </a:xfrm>
            <a:custGeom>
              <a:avLst/>
              <a:gdLst/>
              <a:ahLst/>
              <a:cxnLst/>
              <a:rect l="l" t="t" r="r" b="b"/>
              <a:pathLst>
                <a:path w="1772761" h="1612994">
                  <a:moveTo>
                    <a:pt x="0" y="0"/>
                  </a:moveTo>
                  <a:lnTo>
                    <a:pt x="1772761" y="0"/>
                  </a:lnTo>
                  <a:lnTo>
                    <a:pt x="1772761" y="1612994"/>
                  </a:lnTo>
                  <a:lnTo>
                    <a:pt x="0" y="16129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496644" y="79884"/>
              <a:ext cx="793773" cy="793773"/>
            </a:xfrm>
            <a:custGeom>
              <a:avLst/>
              <a:gdLst/>
              <a:ahLst/>
              <a:cxnLst/>
              <a:rect l="l" t="t" r="r" b="b"/>
              <a:pathLst>
                <a:path w="793773" h="793773">
                  <a:moveTo>
                    <a:pt x="0" y="0"/>
                  </a:moveTo>
                  <a:lnTo>
                    <a:pt x="793773" y="0"/>
                  </a:lnTo>
                  <a:lnTo>
                    <a:pt x="793773" y="793772"/>
                  </a:lnTo>
                  <a:lnTo>
                    <a:pt x="0" y="7937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551229" y="445248"/>
            <a:ext cx="7771663" cy="8993065"/>
          </a:xfrm>
          <a:custGeom>
            <a:avLst/>
            <a:gdLst/>
            <a:ahLst/>
            <a:cxnLst/>
            <a:rect l="l" t="t" r="r" b="b"/>
            <a:pathLst>
              <a:path w="7771663" h="8993065">
                <a:moveTo>
                  <a:pt x="0" y="0"/>
                </a:moveTo>
                <a:lnTo>
                  <a:pt x="7771663" y="0"/>
                </a:lnTo>
                <a:lnTo>
                  <a:pt x="7771663" y="8993065"/>
                </a:lnTo>
                <a:lnTo>
                  <a:pt x="0" y="89930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Freeform 3"/>
          <p:cNvSpPr/>
          <p:nvPr/>
        </p:nvSpPr>
        <p:spPr>
          <a:xfrm>
            <a:off x="803762" y="3324894"/>
            <a:ext cx="6794537" cy="5140525"/>
          </a:xfrm>
          <a:custGeom>
            <a:avLst/>
            <a:gdLst/>
            <a:ahLst/>
            <a:cxnLst/>
            <a:rect l="l" t="t" r="r" b="b"/>
            <a:pathLst>
              <a:path w="6794537" h="5140525">
                <a:moveTo>
                  <a:pt x="0" y="0"/>
                </a:moveTo>
                <a:lnTo>
                  <a:pt x="6794537" y="0"/>
                </a:lnTo>
                <a:lnTo>
                  <a:pt x="6794537" y="5140526"/>
                </a:lnTo>
                <a:lnTo>
                  <a:pt x="0" y="51405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4" name="Group 4"/>
          <p:cNvGrpSpPr/>
          <p:nvPr/>
        </p:nvGrpSpPr>
        <p:grpSpPr>
          <a:xfrm>
            <a:off x="7820778" y="4762317"/>
            <a:ext cx="762367" cy="762367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ln w="19050" cap="sq">
              <a:solidFill>
                <a:srgbClr val="0032FF"/>
              </a:solidFill>
              <a:prstDash val="sysDot"/>
              <a:miter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41300"/>
              <a:ext cx="7112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2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1029717">
            <a:off x="13814288" y="5037285"/>
            <a:ext cx="762367" cy="76236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ln w="19050" cap="sq">
              <a:solidFill>
                <a:srgbClr val="0032FF"/>
              </a:solidFill>
              <a:prstDash val="sysDot"/>
              <a:miter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41300"/>
              <a:ext cx="7112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2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5400000">
            <a:off x="16094984" y="8465420"/>
            <a:ext cx="762367" cy="762367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ln w="19050" cap="sq">
              <a:solidFill>
                <a:srgbClr val="0032FF"/>
              </a:solidFill>
              <a:prstDash val="sysDot"/>
              <a:miter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241300"/>
              <a:ext cx="7112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2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8201961" y="7939918"/>
            <a:ext cx="6470199" cy="525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71"/>
              </a:lnSpc>
              <a:spcBef>
                <a:spcPct val="0"/>
              </a:spcBef>
            </a:pPr>
            <a:r>
              <a:rPr lang="en-US" sz="3841" b="1" u="none" strike="noStrike">
                <a:solidFill>
                  <a:srgbClr val="1D4E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INEQUIDAD DE ACCESO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672160" y="5828482"/>
            <a:ext cx="3402638" cy="1807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36"/>
              </a:lnSpc>
              <a:spcBef>
                <a:spcPct val="0"/>
              </a:spcBef>
            </a:pPr>
            <a:r>
              <a:rPr lang="en-US" sz="3454" i="1" u="none" strike="noStrik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"Hoy el sistema reacciona ante la crisis."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83810" y="656422"/>
            <a:ext cx="5634439" cy="2068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1"/>
              </a:lnSpc>
              <a:spcBef>
                <a:spcPct val="0"/>
              </a:spcBef>
            </a:pPr>
            <a:r>
              <a:rPr lang="en-US" sz="384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La </a:t>
            </a:r>
            <a:r>
              <a:rPr lang="en-US" sz="3841" b="1">
                <a:solidFill>
                  <a:srgbClr val="1D4E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IRA</a:t>
            </a:r>
            <a:r>
              <a:rPr lang="en-US" sz="3841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84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 la principal causa de consulta de urgencias en Antioquia.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10860" y="9410700"/>
            <a:ext cx="16666281" cy="437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8"/>
              </a:lnSpc>
              <a:spcBef>
                <a:spcPct val="0"/>
              </a:spcBef>
            </a:pPr>
            <a:r>
              <a:rPr lang="en-US" sz="3168" b="1" u="none" strike="noStrike">
                <a:solidFill>
                  <a:srgbClr val="1D4E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VitalRisk AI </a:t>
            </a:r>
            <a:r>
              <a:rPr lang="en-US" sz="3168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propone anticipar estas crisis, mejorando la capacidad de respuesta.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60302" y="1997546"/>
            <a:ext cx="12567396" cy="7110015"/>
          </a:xfrm>
          <a:custGeom>
            <a:avLst/>
            <a:gdLst/>
            <a:ahLst/>
            <a:cxnLst/>
            <a:rect l="l" t="t" r="r" b="b"/>
            <a:pathLst>
              <a:path w="12567396" h="7110015">
                <a:moveTo>
                  <a:pt x="0" y="0"/>
                </a:moveTo>
                <a:lnTo>
                  <a:pt x="12567396" y="0"/>
                </a:lnTo>
                <a:lnTo>
                  <a:pt x="12567396" y="7110015"/>
                </a:lnTo>
                <a:lnTo>
                  <a:pt x="0" y="71100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6" t="-16904" r="-41023" b="-8897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TextBox 3"/>
          <p:cNvSpPr txBox="1"/>
          <p:nvPr/>
        </p:nvSpPr>
        <p:spPr>
          <a:xfrm>
            <a:off x="555511" y="742950"/>
            <a:ext cx="15516225" cy="1077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59"/>
              </a:lnSpc>
            </a:pPr>
            <a:r>
              <a:rPr lang="en-US" sz="7599" b="1" spc="-189">
                <a:solidFill>
                  <a:srgbClr val="1D4E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Oportunidad Departamental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364419" y="9322662"/>
            <a:ext cx="13559163" cy="450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46"/>
              </a:lnSpc>
              <a:spcBef>
                <a:spcPct val="0"/>
              </a:spcBef>
            </a:pPr>
            <a:r>
              <a:rPr lang="en-US" sz="3223" i="1" spc="-80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125 municipios. Un solo sistema que hoy no existe.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35772" y="7471828"/>
            <a:ext cx="495111" cy="1565005"/>
          </a:xfrm>
          <a:custGeom>
            <a:avLst/>
            <a:gdLst/>
            <a:ahLst/>
            <a:cxnLst/>
            <a:rect l="l" t="t" r="r" b="b"/>
            <a:pathLst>
              <a:path w="495111" h="1565005">
                <a:moveTo>
                  <a:pt x="0" y="0"/>
                </a:moveTo>
                <a:lnTo>
                  <a:pt x="495110" y="0"/>
                </a:lnTo>
                <a:lnTo>
                  <a:pt x="495110" y="1565005"/>
                </a:lnTo>
                <a:lnTo>
                  <a:pt x="0" y="15650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Freeform 3"/>
          <p:cNvSpPr/>
          <p:nvPr/>
        </p:nvSpPr>
        <p:spPr>
          <a:xfrm>
            <a:off x="8991600" y="666750"/>
            <a:ext cx="8055747" cy="5884050"/>
          </a:xfrm>
          <a:custGeom>
            <a:avLst/>
            <a:gdLst/>
            <a:ahLst/>
            <a:cxnLst/>
            <a:rect l="l" t="t" r="r" b="b"/>
            <a:pathLst>
              <a:path w="8055747" h="5884050">
                <a:moveTo>
                  <a:pt x="0" y="0"/>
                </a:moveTo>
                <a:lnTo>
                  <a:pt x="8055747" y="0"/>
                </a:lnTo>
                <a:lnTo>
                  <a:pt x="8055747" y="5884050"/>
                </a:lnTo>
                <a:lnTo>
                  <a:pt x="0" y="58840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4" name="Group 4"/>
          <p:cNvGrpSpPr/>
          <p:nvPr/>
        </p:nvGrpSpPr>
        <p:grpSpPr>
          <a:xfrm>
            <a:off x="13469557" y="6897146"/>
            <a:ext cx="3495965" cy="1954548"/>
            <a:chOff x="0" y="0"/>
            <a:chExt cx="856746" cy="47899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56746" cy="478996"/>
            </a:xfrm>
            <a:custGeom>
              <a:avLst/>
              <a:gdLst/>
              <a:ahLst/>
              <a:cxnLst/>
              <a:rect l="l" t="t" r="r" b="b"/>
              <a:pathLst>
                <a:path w="856746" h="478996">
                  <a:moveTo>
                    <a:pt x="112941" y="0"/>
                  </a:moveTo>
                  <a:lnTo>
                    <a:pt x="743805" y="0"/>
                  </a:lnTo>
                  <a:cubicBezTo>
                    <a:pt x="773759" y="0"/>
                    <a:pt x="802486" y="11899"/>
                    <a:pt x="823667" y="33080"/>
                  </a:cubicBezTo>
                  <a:cubicBezTo>
                    <a:pt x="844847" y="54260"/>
                    <a:pt x="856746" y="82987"/>
                    <a:pt x="856746" y="112941"/>
                  </a:cubicBezTo>
                  <a:lnTo>
                    <a:pt x="856746" y="366055"/>
                  </a:lnTo>
                  <a:cubicBezTo>
                    <a:pt x="856746" y="396008"/>
                    <a:pt x="844847" y="424736"/>
                    <a:pt x="823667" y="445916"/>
                  </a:cubicBezTo>
                  <a:cubicBezTo>
                    <a:pt x="802486" y="467097"/>
                    <a:pt x="773759" y="478996"/>
                    <a:pt x="743805" y="478996"/>
                  </a:cubicBezTo>
                  <a:lnTo>
                    <a:pt x="112941" y="478996"/>
                  </a:lnTo>
                  <a:cubicBezTo>
                    <a:pt x="50565" y="478996"/>
                    <a:pt x="0" y="428430"/>
                    <a:pt x="0" y="366055"/>
                  </a:cubicBezTo>
                  <a:lnTo>
                    <a:pt x="0" y="112941"/>
                  </a:lnTo>
                  <a:cubicBezTo>
                    <a:pt x="0" y="82987"/>
                    <a:pt x="11899" y="54260"/>
                    <a:pt x="33080" y="33080"/>
                  </a:cubicBezTo>
                  <a:cubicBezTo>
                    <a:pt x="54260" y="11899"/>
                    <a:pt x="82987" y="0"/>
                    <a:pt x="11294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E9F9D"/>
              </a:solidFill>
              <a:prstDash val="sysDot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856746" cy="545671"/>
            </a:xfrm>
            <a:prstGeom prst="rect">
              <a:avLst/>
            </a:prstGeom>
          </p:spPr>
          <p:txBody>
            <a:bodyPr lIns="54595" tIns="54595" rIns="54595" bIns="54595" rtlCol="0" anchor="ctr"/>
            <a:lstStyle/>
            <a:p>
              <a:pPr algn="ctr">
                <a:lnSpc>
                  <a:spcPts val="2746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185379" y="6857565"/>
            <a:ext cx="3495965" cy="1954548"/>
            <a:chOff x="0" y="0"/>
            <a:chExt cx="856746" cy="47899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56746" cy="478996"/>
            </a:xfrm>
            <a:custGeom>
              <a:avLst/>
              <a:gdLst/>
              <a:ahLst/>
              <a:cxnLst/>
              <a:rect l="l" t="t" r="r" b="b"/>
              <a:pathLst>
                <a:path w="856746" h="478996">
                  <a:moveTo>
                    <a:pt x="112941" y="0"/>
                  </a:moveTo>
                  <a:lnTo>
                    <a:pt x="743805" y="0"/>
                  </a:lnTo>
                  <a:cubicBezTo>
                    <a:pt x="773759" y="0"/>
                    <a:pt x="802486" y="11899"/>
                    <a:pt x="823667" y="33080"/>
                  </a:cubicBezTo>
                  <a:cubicBezTo>
                    <a:pt x="844847" y="54260"/>
                    <a:pt x="856746" y="82987"/>
                    <a:pt x="856746" y="112941"/>
                  </a:cubicBezTo>
                  <a:lnTo>
                    <a:pt x="856746" y="366055"/>
                  </a:lnTo>
                  <a:cubicBezTo>
                    <a:pt x="856746" y="396008"/>
                    <a:pt x="844847" y="424736"/>
                    <a:pt x="823667" y="445916"/>
                  </a:cubicBezTo>
                  <a:cubicBezTo>
                    <a:pt x="802486" y="467097"/>
                    <a:pt x="773759" y="478996"/>
                    <a:pt x="743805" y="478996"/>
                  </a:cubicBezTo>
                  <a:lnTo>
                    <a:pt x="112941" y="478996"/>
                  </a:lnTo>
                  <a:cubicBezTo>
                    <a:pt x="50565" y="478996"/>
                    <a:pt x="0" y="428430"/>
                    <a:pt x="0" y="366055"/>
                  </a:cubicBezTo>
                  <a:lnTo>
                    <a:pt x="0" y="112941"/>
                  </a:lnTo>
                  <a:cubicBezTo>
                    <a:pt x="0" y="82987"/>
                    <a:pt x="11899" y="54260"/>
                    <a:pt x="33080" y="33080"/>
                  </a:cubicBezTo>
                  <a:cubicBezTo>
                    <a:pt x="54260" y="11899"/>
                    <a:pt x="82987" y="0"/>
                    <a:pt x="11294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95BDCD"/>
              </a:solidFill>
              <a:prstDash val="sysDot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856746" cy="545671"/>
            </a:xfrm>
            <a:prstGeom prst="rect">
              <a:avLst/>
            </a:prstGeom>
          </p:spPr>
          <p:txBody>
            <a:bodyPr lIns="54595" tIns="54595" rIns="54595" bIns="54595" rtlCol="0" anchor="ctr"/>
            <a:lstStyle/>
            <a:p>
              <a:pPr algn="ctr">
                <a:lnSpc>
                  <a:spcPts val="2746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838055" y="6857565"/>
            <a:ext cx="3495965" cy="1954548"/>
            <a:chOff x="0" y="0"/>
            <a:chExt cx="856746" cy="47899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56746" cy="478996"/>
            </a:xfrm>
            <a:custGeom>
              <a:avLst/>
              <a:gdLst/>
              <a:ahLst/>
              <a:cxnLst/>
              <a:rect l="l" t="t" r="r" b="b"/>
              <a:pathLst>
                <a:path w="856746" h="478996">
                  <a:moveTo>
                    <a:pt x="112941" y="0"/>
                  </a:moveTo>
                  <a:lnTo>
                    <a:pt x="743805" y="0"/>
                  </a:lnTo>
                  <a:cubicBezTo>
                    <a:pt x="773759" y="0"/>
                    <a:pt x="802486" y="11899"/>
                    <a:pt x="823667" y="33080"/>
                  </a:cubicBezTo>
                  <a:cubicBezTo>
                    <a:pt x="844847" y="54260"/>
                    <a:pt x="856746" y="82987"/>
                    <a:pt x="856746" y="112941"/>
                  </a:cubicBezTo>
                  <a:lnTo>
                    <a:pt x="856746" y="366055"/>
                  </a:lnTo>
                  <a:cubicBezTo>
                    <a:pt x="856746" y="396008"/>
                    <a:pt x="844847" y="424736"/>
                    <a:pt x="823667" y="445916"/>
                  </a:cubicBezTo>
                  <a:cubicBezTo>
                    <a:pt x="802486" y="467097"/>
                    <a:pt x="773759" y="478996"/>
                    <a:pt x="743805" y="478996"/>
                  </a:cubicBezTo>
                  <a:lnTo>
                    <a:pt x="112941" y="478996"/>
                  </a:lnTo>
                  <a:cubicBezTo>
                    <a:pt x="50565" y="478996"/>
                    <a:pt x="0" y="428430"/>
                    <a:pt x="0" y="366055"/>
                  </a:cubicBezTo>
                  <a:lnTo>
                    <a:pt x="0" y="112941"/>
                  </a:lnTo>
                  <a:cubicBezTo>
                    <a:pt x="0" y="82987"/>
                    <a:pt x="11899" y="54260"/>
                    <a:pt x="33080" y="33080"/>
                  </a:cubicBezTo>
                  <a:cubicBezTo>
                    <a:pt x="54260" y="11899"/>
                    <a:pt x="82987" y="0"/>
                    <a:pt x="11294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547A9C"/>
              </a:solidFill>
              <a:prstDash val="sysDot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856746" cy="507571"/>
            </a:xfrm>
            <a:prstGeom prst="rect">
              <a:avLst/>
            </a:prstGeom>
          </p:spPr>
          <p:txBody>
            <a:bodyPr lIns="54595" tIns="54595" rIns="54595" bIns="54595" rtlCol="0" anchor="ctr"/>
            <a:lstStyle/>
            <a:p>
              <a:pPr marL="0" lvl="0" indent="0" algn="ctr">
                <a:lnSpc>
                  <a:spcPts val="206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57118" y="6897146"/>
            <a:ext cx="3495965" cy="1954548"/>
            <a:chOff x="0" y="0"/>
            <a:chExt cx="856746" cy="47899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56746" cy="478996"/>
            </a:xfrm>
            <a:custGeom>
              <a:avLst/>
              <a:gdLst/>
              <a:ahLst/>
              <a:cxnLst/>
              <a:rect l="l" t="t" r="r" b="b"/>
              <a:pathLst>
                <a:path w="856746" h="478996">
                  <a:moveTo>
                    <a:pt x="112941" y="0"/>
                  </a:moveTo>
                  <a:lnTo>
                    <a:pt x="743805" y="0"/>
                  </a:lnTo>
                  <a:cubicBezTo>
                    <a:pt x="773759" y="0"/>
                    <a:pt x="802486" y="11899"/>
                    <a:pt x="823667" y="33080"/>
                  </a:cubicBezTo>
                  <a:cubicBezTo>
                    <a:pt x="844847" y="54260"/>
                    <a:pt x="856746" y="82987"/>
                    <a:pt x="856746" y="112941"/>
                  </a:cubicBezTo>
                  <a:lnTo>
                    <a:pt x="856746" y="366055"/>
                  </a:lnTo>
                  <a:cubicBezTo>
                    <a:pt x="856746" y="396008"/>
                    <a:pt x="844847" y="424736"/>
                    <a:pt x="823667" y="445916"/>
                  </a:cubicBezTo>
                  <a:cubicBezTo>
                    <a:pt x="802486" y="467097"/>
                    <a:pt x="773759" y="478996"/>
                    <a:pt x="743805" y="478996"/>
                  </a:cubicBezTo>
                  <a:lnTo>
                    <a:pt x="112941" y="478996"/>
                  </a:lnTo>
                  <a:cubicBezTo>
                    <a:pt x="50565" y="478996"/>
                    <a:pt x="0" y="428430"/>
                    <a:pt x="0" y="366055"/>
                  </a:cubicBezTo>
                  <a:lnTo>
                    <a:pt x="0" y="112941"/>
                  </a:lnTo>
                  <a:cubicBezTo>
                    <a:pt x="0" y="82987"/>
                    <a:pt x="11899" y="54260"/>
                    <a:pt x="33080" y="33080"/>
                  </a:cubicBezTo>
                  <a:cubicBezTo>
                    <a:pt x="54260" y="11899"/>
                    <a:pt x="82987" y="0"/>
                    <a:pt x="11294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32FF"/>
              </a:solidFill>
              <a:prstDash val="sysDot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66675"/>
              <a:ext cx="856746" cy="545671"/>
            </a:xfrm>
            <a:prstGeom prst="rect">
              <a:avLst/>
            </a:prstGeom>
          </p:spPr>
          <p:txBody>
            <a:bodyPr lIns="54595" tIns="54595" rIns="54595" bIns="54595" rtlCol="0" anchor="ctr"/>
            <a:lstStyle/>
            <a:p>
              <a:pPr algn="ctr">
                <a:lnSpc>
                  <a:spcPts val="2746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053082" y="7358565"/>
            <a:ext cx="895766" cy="895766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32FF"/>
              </a:solidFill>
              <a:prstDash val="sysDot"/>
              <a:miter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36525"/>
              <a:ext cx="711200" cy="473075"/>
            </a:xfrm>
            <a:prstGeom prst="rect">
              <a:avLst/>
            </a:prstGeom>
          </p:spPr>
          <p:txBody>
            <a:bodyPr lIns="54595" tIns="54595" rIns="54595" bIns="54595" rtlCol="0" anchor="ctr"/>
            <a:lstStyle/>
            <a:p>
              <a:pPr algn="ctr">
                <a:lnSpc>
                  <a:spcPts val="2746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289613" y="7358565"/>
            <a:ext cx="895766" cy="895766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47A9C"/>
              </a:solidFill>
              <a:prstDash val="sysDot"/>
              <a:miter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136525"/>
              <a:ext cx="711200" cy="473075"/>
            </a:xfrm>
            <a:prstGeom prst="rect">
              <a:avLst/>
            </a:prstGeom>
          </p:spPr>
          <p:txBody>
            <a:bodyPr lIns="54595" tIns="54595" rIns="54595" bIns="54595" rtlCol="0" anchor="ctr"/>
            <a:lstStyle/>
            <a:p>
              <a:pPr algn="ctr">
                <a:lnSpc>
                  <a:spcPts val="2746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681343" y="7318210"/>
            <a:ext cx="895766" cy="895766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EFEFE"/>
            </a:solidFill>
            <a:ln w="38100" cap="sq">
              <a:solidFill>
                <a:srgbClr val="95BDCD"/>
              </a:solidFill>
              <a:prstDash val="sysDot"/>
              <a:miter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136525"/>
              <a:ext cx="711200" cy="473075"/>
            </a:xfrm>
            <a:prstGeom prst="rect">
              <a:avLst/>
            </a:prstGeom>
          </p:spPr>
          <p:txBody>
            <a:bodyPr lIns="54595" tIns="54595" rIns="54595" bIns="54595" rtlCol="0" anchor="ctr"/>
            <a:lstStyle/>
            <a:p>
              <a:pPr algn="ctr">
                <a:lnSpc>
                  <a:spcPts val="2746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17235772" y="6883704"/>
            <a:ext cx="529663" cy="461288"/>
          </a:xfrm>
          <a:custGeom>
            <a:avLst/>
            <a:gdLst/>
            <a:ahLst/>
            <a:cxnLst/>
            <a:rect l="l" t="t" r="r" b="b"/>
            <a:pathLst>
              <a:path w="529663" h="461288">
                <a:moveTo>
                  <a:pt x="0" y="0"/>
                </a:moveTo>
                <a:lnTo>
                  <a:pt x="529662" y="0"/>
                </a:lnTo>
                <a:lnTo>
                  <a:pt x="529662" y="461288"/>
                </a:lnTo>
                <a:lnTo>
                  <a:pt x="0" y="461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26" name="TextBox 26"/>
          <p:cNvSpPr txBox="1"/>
          <p:nvPr/>
        </p:nvSpPr>
        <p:spPr>
          <a:xfrm>
            <a:off x="666750" y="742950"/>
            <a:ext cx="8324850" cy="1077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59"/>
              </a:lnSpc>
            </a:pPr>
            <a:r>
              <a:rPr lang="en-US" sz="7599" b="1" spc="-189">
                <a:solidFill>
                  <a:srgbClr val="1D4E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 Solución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6750" y="2153583"/>
            <a:ext cx="7545502" cy="967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Predecir casos de IRA para la semana siguiente (t+1)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6750" y="3615686"/>
            <a:ext cx="7039052" cy="47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b="1" u="none" strike="noStrike">
                <a:solidFill>
                  <a:srgbClr val="1D4E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 es un tablero de datos históricos...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75441" y="7397962"/>
            <a:ext cx="1061948" cy="282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b="1" u="none" strike="noStrik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EXTRACT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59609" y="7689893"/>
            <a:ext cx="2200601" cy="724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51"/>
              </a:lnSpc>
              <a:spcBef>
                <a:spcPct val="0"/>
              </a:spcBef>
            </a:pPr>
            <a:r>
              <a:rPr lang="en-US" sz="1837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 APIs Socrata</a:t>
            </a:r>
          </a:p>
          <a:p>
            <a:pPr marL="0" lvl="0" indent="0" algn="ctr">
              <a:lnSpc>
                <a:spcPts val="2951"/>
              </a:lnSpc>
              <a:spcBef>
                <a:spcPct val="0"/>
              </a:spcBef>
            </a:pPr>
            <a:r>
              <a:rPr lang="en-US" sz="1837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~134,000 registros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299636" y="7715264"/>
            <a:ext cx="2555929" cy="7314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51"/>
              </a:lnSpc>
            </a:pPr>
            <a:r>
              <a:rPr lang="en-US" sz="1837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Agregación</a:t>
            </a:r>
            <a:r>
              <a:rPr lang="en-US" sz="1837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37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semanal</a:t>
            </a:r>
            <a:endParaRPr lang="en-US" sz="1837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2951"/>
              </a:lnSpc>
            </a:pPr>
            <a:r>
              <a:rPr lang="en-US" sz="1837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por</a:t>
            </a:r>
            <a:r>
              <a:rPr lang="en-US" sz="1837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municipio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363481" y="7316417"/>
            <a:ext cx="1127042" cy="282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PREDICT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923053" y="7681489"/>
            <a:ext cx="1891586" cy="718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51"/>
              </a:lnSpc>
              <a:spcBef>
                <a:spcPct val="0"/>
              </a:spcBef>
            </a:pPr>
            <a:r>
              <a:rPr lang="en-US" sz="1837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XGBoost</a:t>
            </a:r>
          </a:p>
          <a:p>
            <a:pPr marL="0" lvl="0" indent="0" algn="ctr">
              <a:lnSpc>
                <a:spcPts val="2951"/>
              </a:lnSpc>
              <a:spcBef>
                <a:spcPct val="0"/>
              </a:spcBef>
            </a:pPr>
            <a:r>
              <a:rPr lang="en-US" sz="1837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37 predicciones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767929" y="7316417"/>
            <a:ext cx="899221" cy="282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b="1" u="none" strike="noStrik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STORE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786890" y="7522463"/>
            <a:ext cx="3023432" cy="11162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951"/>
              </a:lnSpc>
              <a:spcBef>
                <a:spcPct val="0"/>
              </a:spcBef>
            </a:pPr>
            <a:r>
              <a:rPr lang="en-US" sz="1837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UPSERT </a:t>
            </a:r>
            <a:r>
              <a:rPr lang="en-US" sz="1837" u="none" strike="noStrik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PostGIS</a:t>
            </a:r>
            <a:endParaRPr lang="en-US" sz="1837" u="none" strike="noStrik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>
              <a:lnSpc>
                <a:spcPts val="2951"/>
              </a:lnSpc>
              <a:spcBef>
                <a:spcPct val="0"/>
              </a:spcBef>
            </a:pPr>
            <a:r>
              <a:rPr lang="en-US" sz="1837" u="none" strike="noStrik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fact_riesgo</a:t>
            </a:r>
            <a:r>
              <a:rPr lang="en-US" sz="1837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+</a:t>
            </a:r>
          </a:p>
          <a:p>
            <a:pPr marL="0" lvl="0" indent="0" algn="ctr">
              <a:lnSpc>
                <a:spcPts val="2951"/>
              </a:lnSpc>
              <a:spcBef>
                <a:spcPct val="0"/>
              </a:spcBef>
            </a:pPr>
            <a:r>
              <a:rPr lang="en-US" sz="1837" u="none" strike="noStrik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alertas_territoriales</a:t>
            </a:r>
            <a:endParaRPr lang="en-US" sz="1837" u="none" strike="noStrik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5792784" y="7344992"/>
            <a:ext cx="1601064" cy="282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b="1" u="none" strike="noStrike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TRANSFORM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66750" y="4513290"/>
            <a:ext cx="6679974" cy="1462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Algo </a:t>
            </a:r>
            <a:r>
              <a:rPr lang="en-US" sz="2799" u="none" strike="noStrik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que</a:t>
            </a:r>
            <a:r>
              <a:rPr lang="en-US" sz="2799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99" u="none" strike="noStrik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ningún</a:t>
            </a:r>
            <a:r>
              <a:rPr lang="en-US" sz="2799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99" u="none" strike="noStrik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sistema</a:t>
            </a:r>
            <a:r>
              <a:rPr lang="en-US" sz="2799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99" u="none" strike="noStrik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público</a:t>
            </a:r>
            <a:r>
              <a:rPr lang="en-US" sz="2799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99" u="none" strike="noStrik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hace</a:t>
            </a:r>
            <a:r>
              <a:rPr lang="en-US" sz="2799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hoy para Antioquia...</a:t>
            </a:r>
          </a:p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endParaRPr lang="en-US" sz="2799" u="none" strike="noStrik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01644" y="2980979"/>
            <a:ext cx="993968" cy="619988"/>
          </a:xfrm>
          <a:custGeom>
            <a:avLst/>
            <a:gdLst/>
            <a:ahLst/>
            <a:cxnLst/>
            <a:rect l="l" t="t" r="r" b="b"/>
            <a:pathLst>
              <a:path w="993968" h="619988">
                <a:moveTo>
                  <a:pt x="0" y="0"/>
                </a:moveTo>
                <a:lnTo>
                  <a:pt x="993968" y="0"/>
                </a:lnTo>
                <a:lnTo>
                  <a:pt x="993968" y="619988"/>
                </a:lnTo>
                <a:lnTo>
                  <a:pt x="0" y="6199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Freeform 3"/>
          <p:cNvSpPr/>
          <p:nvPr/>
        </p:nvSpPr>
        <p:spPr>
          <a:xfrm>
            <a:off x="2775137" y="2904779"/>
            <a:ext cx="772388" cy="772388"/>
          </a:xfrm>
          <a:custGeom>
            <a:avLst/>
            <a:gdLst/>
            <a:ahLst/>
            <a:cxnLst/>
            <a:rect l="l" t="t" r="r" b="b"/>
            <a:pathLst>
              <a:path w="772388" h="772388">
                <a:moveTo>
                  <a:pt x="0" y="0"/>
                </a:moveTo>
                <a:lnTo>
                  <a:pt x="772388" y="0"/>
                </a:lnTo>
                <a:lnTo>
                  <a:pt x="772388" y="772388"/>
                </a:lnTo>
                <a:lnTo>
                  <a:pt x="0" y="7723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4" name="TextBox 4"/>
          <p:cNvSpPr txBox="1"/>
          <p:nvPr/>
        </p:nvSpPr>
        <p:spPr>
          <a:xfrm>
            <a:off x="9662469" y="3658325"/>
            <a:ext cx="3019675" cy="967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</a:pPr>
            <a:r>
              <a:rPr lang="en-US" sz="2799" b="1">
                <a:solidFill>
                  <a:srgbClr val="1D4E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Caché de Datos de Referencia</a:t>
            </a:r>
          </a:p>
        </p:txBody>
      </p:sp>
      <p:sp>
        <p:nvSpPr>
          <p:cNvPr id="5" name="Freeform 5"/>
          <p:cNvSpPr/>
          <p:nvPr/>
        </p:nvSpPr>
        <p:spPr>
          <a:xfrm>
            <a:off x="10828229" y="2831102"/>
            <a:ext cx="688155" cy="825374"/>
          </a:xfrm>
          <a:custGeom>
            <a:avLst/>
            <a:gdLst/>
            <a:ahLst/>
            <a:cxnLst/>
            <a:rect l="l" t="t" r="r" b="b"/>
            <a:pathLst>
              <a:path w="688155" h="825374">
                <a:moveTo>
                  <a:pt x="0" y="0"/>
                </a:moveTo>
                <a:lnTo>
                  <a:pt x="688155" y="0"/>
                </a:lnTo>
                <a:lnTo>
                  <a:pt x="688155" y="825373"/>
                </a:lnTo>
                <a:lnTo>
                  <a:pt x="0" y="8253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6" name="TextBox 6"/>
          <p:cNvSpPr txBox="1"/>
          <p:nvPr/>
        </p:nvSpPr>
        <p:spPr>
          <a:xfrm>
            <a:off x="666750" y="742950"/>
            <a:ext cx="12611100" cy="1077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59"/>
              </a:lnSpc>
            </a:pPr>
            <a:r>
              <a:rPr lang="en-US" sz="7599" b="1" spc="-189">
                <a:solidFill>
                  <a:srgbClr val="1D4E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Ingesta de datos abiertos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877003"/>
            <a:ext cx="3286125" cy="47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</a:pPr>
            <a:r>
              <a:rPr lang="en-US" sz="2799" b="1">
                <a:solidFill>
                  <a:srgbClr val="1D4E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APIs conectadas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4636135"/>
            <a:ext cx="3286125" cy="967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</a:pPr>
            <a:r>
              <a:rPr lang="en-US" sz="2799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Datos en tiempo casi real.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597774" y="2246472"/>
            <a:ext cx="4546226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b="1" i="1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Protocolo SODA2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4624428" y="2825592"/>
            <a:ext cx="5636861" cy="3234121"/>
            <a:chOff x="0" y="0"/>
            <a:chExt cx="7515814" cy="4312161"/>
          </a:xfrm>
        </p:grpSpPr>
        <p:sp>
          <p:nvSpPr>
            <p:cNvPr id="11" name="TextBox 11"/>
            <p:cNvSpPr txBox="1"/>
            <p:nvPr/>
          </p:nvSpPr>
          <p:spPr>
            <a:xfrm>
              <a:off x="0" y="576393"/>
              <a:ext cx="6105970" cy="503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 u="none" strike="noStrike">
                  <a:solidFill>
                    <a:srgbClr val="3333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Humedad del aire | </a:t>
              </a:r>
              <a:r>
                <a:rPr lang="en-US" sz="2300" u="sng" strike="noStrike">
                  <a:solidFill>
                    <a:srgbClr val="333333"/>
                  </a:solidFill>
                  <a:latin typeface="Montserrat"/>
                  <a:ea typeface="Montserrat"/>
                  <a:cs typeface="Montserrat"/>
                  <a:sym typeface="Montserrat"/>
                  <a:hlinkClick r:id="rId5" tooltip="https://www.datos.gov.co/resource/uext-mhny"/>
                </a:rPr>
                <a:t>uext-mhny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171600"/>
              <a:ext cx="5475764" cy="503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 u="none" strike="noStrike">
                  <a:solidFill>
                    <a:srgbClr val="3333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Temperatura | </a:t>
              </a:r>
              <a:r>
                <a:rPr lang="en-US" sz="2300" u="sng" strike="noStrike">
                  <a:solidFill>
                    <a:srgbClr val="333333"/>
                  </a:solidFill>
                  <a:latin typeface="Montserrat"/>
                  <a:ea typeface="Montserrat"/>
                  <a:cs typeface="Montserrat"/>
                  <a:sym typeface="Montserrat"/>
                  <a:hlinkClick r:id="rId6" tooltip="https://www.datos.gov.co/resource/sbwg-7ju4"/>
                </a:rPr>
                <a:t>sbwg-7ju4</a:t>
              </a:r>
              <a:r>
                <a:rPr lang="en-US" sz="2300" u="none" strike="noStrike">
                  <a:solidFill>
                    <a:srgbClr val="3333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792207"/>
              <a:ext cx="5249549" cy="503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 u="none" strike="noStrike">
                  <a:solidFill>
                    <a:srgbClr val="3333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Precipitación | </a:t>
              </a:r>
              <a:r>
                <a:rPr lang="en-US" sz="2300" u="sng" strike="noStrike">
                  <a:solidFill>
                    <a:srgbClr val="333333"/>
                  </a:solidFill>
                  <a:latin typeface="Montserrat"/>
                  <a:ea typeface="Montserrat"/>
                  <a:cs typeface="Montserrat"/>
                  <a:sym typeface="Montserrat"/>
                  <a:hlinkClick r:id="rId7" tooltip="https://www.datos.gov.co/resource/s54a-sgyg"/>
                </a:rPr>
                <a:t>s54a-sgyg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2395084"/>
              <a:ext cx="6105970" cy="503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 u="none" strike="noStrike">
                  <a:solidFill>
                    <a:srgbClr val="3333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Presión atmosférica | </a:t>
              </a:r>
              <a:r>
                <a:rPr lang="en-US" sz="2300" u="sng" strike="noStrike">
                  <a:solidFill>
                    <a:srgbClr val="333333"/>
                  </a:solidFill>
                  <a:latin typeface="Montserrat"/>
                  <a:ea typeface="Montserrat"/>
                  <a:cs typeface="Montserrat"/>
                  <a:sym typeface="Montserrat"/>
                  <a:hlinkClick r:id="rId8" tooltip="https://www.datos.gov.co/resource/62tk-nxj5"/>
                </a:rPr>
                <a:t>62tk-nxj5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3213823"/>
              <a:ext cx="7515814" cy="503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 b="1" u="none" strike="noStrike">
                  <a:solidFill>
                    <a:srgbClr val="33333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IDEAM SISAIRE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3195036" cy="503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 b="1" u="none" strike="noStrike">
                  <a:solidFill>
                    <a:srgbClr val="33333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IDEAM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3809030"/>
              <a:ext cx="5175403" cy="503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 u="none" strike="noStrike">
                  <a:solidFill>
                    <a:srgbClr val="3333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PM2.5/PM10 | </a:t>
              </a:r>
              <a:r>
                <a:rPr lang="en-US" sz="2300" u="sng" strike="noStrike">
                  <a:solidFill>
                    <a:srgbClr val="333333"/>
                  </a:solidFill>
                  <a:latin typeface="Montserrat"/>
                  <a:ea typeface="Montserrat"/>
                  <a:cs typeface="Montserrat"/>
                  <a:sym typeface="Montserrat"/>
                  <a:hlinkClick r:id="rId9" tooltip="https://www.datos.gov.co/resource/g4t8-zkc3"/>
                </a:rPr>
                <a:t>g4t8-zkc3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177580" y="2527133"/>
            <a:ext cx="4491133" cy="3241574"/>
            <a:chOff x="0" y="0"/>
            <a:chExt cx="5988177" cy="4322099"/>
          </a:xfrm>
        </p:grpSpPr>
        <p:sp>
          <p:nvSpPr>
            <p:cNvPr id="19" name="TextBox 19"/>
            <p:cNvSpPr txBox="1"/>
            <p:nvPr/>
          </p:nvSpPr>
          <p:spPr>
            <a:xfrm>
              <a:off x="0" y="1533709"/>
              <a:ext cx="3328182" cy="503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 b="1" u="none" strike="noStrike">
                  <a:solidFill>
                    <a:srgbClr val="33333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SIVIGILA/INS 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455902"/>
              <a:ext cx="4486026" cy="10365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96571" lvl="1" indent="-248285" algn="l">
                <a:lnSpc>
                  <a:spcPts val="3220"/>
                </a:lnSpc>
                <a:buFont typeface="Arial"/>
                <a:buChar char="•"/>
              </a:pPr>
              <a:r>
                <a:rPr lang="en-US" sz="2300" u="none" strike="noStrike">
                  <a:solidFill>
                    <a:srgbClr val="3333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ECV Antioquia 2023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3220724"/>
              <a:ext cx="5780341" cy="503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96571" lvl="1" indent="-248285" algn="l">
                <a:lnSpc>
                  <a:spcPts val="3220"/>
                </a:lnSpc>
                <a:buFont typeface="Arial"/>
                <a:buChar char="•"/>
              </a:pPr>
              <a:r>
                <a:rPr lang="en-US" sz="2300" u="none" strike="noStrike">
                  <a:solidFill>
                    <a:srgbClr val="3333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Proyecciones CNPV 2018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3818967"/>
              <a:ext cx="3328182" cy="503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96571" lvl="1" indent="-248285" algn="l">
                <a:lnSpc>
                  <a:spcPts val="3220"/>
                </a:lnSpc>
                <a:buFont typeface="Arial"/>
                <a:buChar char="•"/>
              </a:pPr>
              <a:r>
                <a:rPr lang="en-US" sz="2300" u="none" strike="noStrike">
                  <a:solidFill>
                    <a:srgbClr val="3333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MGN 2025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2074041"/>
              <a:ext cx="5673600" cy="503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96571" lvl="1" indent="-248285" algn="l">
                <a:lnSpc>
                  <a:spcPts val="3220"/>
                </a:lnSpc>
                <a:buFont typeface="Arial"/>
                <a:buChar char="•"/>
              </a:pPr>
              <a:r>
                <a:rPr lang="en-US" sz="2300" u="none" strike="noStrike">
                  <a:solidFill>
                    <a:srgbClr val="3333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Eventos IRA (evento 345)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2739442"/>
              <a:ext cx="1411793" cy="503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 b="1" u="none" strike="noStrike">
                  <a:solidFill>
                    <a:srgbClr val="33333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DANE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5988177" cy="503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 b="1" u="none" strike="noStrike">
                  <a:solidFill>
                    <a:srgbClr val="33333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Gobernación de Antioquia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54897" y="6959985"/>
            <a:ext cx="17778207" cy="2968497"/>
            <a:chOff x="0" y="0"/>
            <a:chExt cx="4682326" cy="78182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682326" cy="781826"/>
            </a:xfrm>
            <a:custGeom>
              <a:avLst/>
              <a:gdLst/>
              <a:ahLst/>
              <a:cxnLst/>
              <a:rect l="l" t="t" r="r" b="b"/>
              <a:pathLst>
                <a:path w="4682326" h="781826">
                  <a:moveTo>
                    <a:pt x="22209" y="0"/>
                  </a:moveTo>
                  <a:lnTo>
                    <a:pt x="4660117" y="0"/>
                  </a:lnTo>
                  <a:cubicBezTo>
                    <a:pt x="4666007" y="0"/>
                    <a:pt x="4671656" y="2340"/>
                    <a:pt x="4675821" y="6505"/>
                  </a:cubicBezTo>
                  <a:cubicBezTo>
                    <a:pt x="4679986" y="10670"/>
                    <a:pt x="4682326" y="16319"/>
                    <a:pt x="4682326" y="22209"/>
                  </a:cubicBezTo>
                  <a:lnTo>
                    <a:pt x="4682326" y="759617"/>
                  </a:lnTo>
                  <a:cubicBezTo>
                    <a:pt x="4682326" y="765508"/>
                    <a:pt x="4679986" y="771157"/>
                    <a:pt x="4675821" y="775322"/>
                  </a:cubicBezTo>
                  <a:cubicBezTo>
                    <a:pt x="4671656" y="779487"/>
                    <a:pt x="4666007" y="781826"/>
                    <a:pt x="4660117" y="781826"/>
                  </a:cubicBezTo>
                  <a:lnTo>
                    <a:pt x="22209" y="781826"/>
                  </a:lnTo>
                  <a:cubicBezTo>
                    <a:pt x="16319" y="781826"/>
                    <a:pt x="10670" y="779487"/>
                    <a:pt x="6505" y="775322"/>
                  </a:cubicBezTo>
                  <a:cubicBezTo>
                    <a:pt x="2340" y="771157"/>
                    <a:pt x="0" y="765508"/>
                    <a:pt x="0" y="759617"/>
                  </a:cubicBezTo>
                  <a:lnTo>
                    <a:pt x="0" y="22209"/>
                  </a:lnTo>
                  <a:cubicBezTo>
                    <a:pt x="0" y="16319"/>
                    <a:pt x="2340" y="10670"/>
                    <a:pt x="6505" y="6505"/>
                  </a:cubicBezTo>
                  <a:cubicBezTo>
                    <a:pt x="10670" y="2340"/>
                    <a:pt x="16319" y="0"/>
                    <a:pt x="22209" y="0"/>
                  </a:cubicBezTo>
                  <a:close/>
                </a:path>
              </a:pathLst>
            </a:custGeom>
            <a:ln w="38100" cap="rnd">
              <a:solidFill>
                <a:srgbClr val="ABABC5"/>
              </a:solidFill>
              <a:prstDash val="sysDot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76200"/>
              <a:ext cx="4682326" cy="8580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51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5098479" y="7463286"/>
            <a:ext cx="1359047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4"/>
              </a:lnSpc>
              <a:spcBef>
                <a:spcPct val="0"/>
              </a:spcBef>
            </a:pPr>
            <a:r>
              <a:rPr lang="en-US" sz="2499" b="1" u="none" strike="noStrik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103 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4175433" y="7125544"/>
            <a:ext cx="3205139" cy="1046959"/>
            <a:chOff x="0" y="0"/>
            <a:chExt cx="856047" cy="27962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56047" cy="279628"/>
            </a:xfrm>
            <a:custGeom>
              <a:avLst/>
              <a:gdLst/>
              <a:ahLst/>
              <a:cxnLst/>
              <a:rect l="l" t="t" r="r" b="b"/>
              <a:pathLst>
                <a:path w="856047" h="279628">
                  <a:moveTo>
                    <a:pt x="57971" y="0"/>
                  </a:moveTo>
                  <a:lnTo>
                    <a:pt x="798076" y="0"/>
                  </a:lnTo>
                  <a:cubicBezTo>
                    <a:pt x="830092" y="0"/>
                    <a:pt x="856047" y="25955"/>
                    <a:pt x="856047" y="57971"/>
                  </a:cubicBezTo>
                  <a:lnTo>
                    <a:pt x="856047" y="221656"/>
                  </a:lnTo>
                  <a:cubicBezTo>
                    <a:pt x="856047" y="253673"/>
                    <a:pt x="830092" y="279628"/>
                    <a:pt x="798076" y="279628"/>
                  </a:cubicBezTo>
                  <a:lnTo>
                    <a:pt x="57971" y="279628"/>
                  </a:lnTo>
                  <a:cubicBezTo>
                    <a:pt x="25955" y="279628"/>
                    <a:pt x="0" y="253673"/>
                    <a:pt x="0" y="221656"/>
                  </a:cubicBezTo>
                  <a:lnTo>
                    <a:pt x="0" y="57971"/>
                  </a:lnTo>
                  <a:cubicBezTo>
                    <a:pt x="0" y="25955"/>
                    <a:pt x="25955" y="0"/>
                    <a:pt x="57971" y="0"/>
                  </a:cubicBezTo>
                  <a:close/>
                </a:path>
              </a:pathLst>
            </a:custGeom>
            <a:ln w="38100" cap="rnd">
              <a:solidFill>
                <a:srgbClr val="0032FF"/>
              </a:solidFill>
              <a:prstDash val="sysDot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76200"/>
              <a:ext cx="856047" cy="355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51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646675" y="7125544"/>
            <a:ext cx="3205139" cy="1046959"/>
            <a:chOff x="0" y="0"/>
            <a:chExt cx="856047" cy="27962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56047" cy="279628"/>
            </a:xfrm>
            <a:custGeom>
              <a:avLst/>
              <a:gdLst/>
              <a:ahLst/>
              <a:cxnLst/>
              <a:rect l="l" t="t" r="r" b="b"/>
              <a:pathLst>
                <a:path w="856047" h="279628">
                  <a:moveTo>
                    <a:pt x="57971" y="0"/>
                  </a:moveTo>
                  <a:lnTo>
                    <a:pt x="798076" y="0"/>
                  </a:lnTo>
                  <a:cubicBezTo>
                    <a:pt x="830092" y="0"/>
                    <a:pt x="856047" y="25955"/>
                    <a:pt x="856047" y="57971"/>
                  </a:cubicBezTo>
                  <a:lnTo>
                    <a:pt x="856047" y="221656"/>
                  </a:lnTo>
                  <a:cubicBezTo>
                    <a:pt x="856047" y="253673"/>
                    <a:pt x="830092" y="279628"/>
                    <a:pt x="798076" y="279628"/>
                  </a:cubicBezTo>
                  <a:lnTo>
                    <a:pt x="57971" y="279628"/>
                  </a:lnTo>
                  <a:cubicBezTo>
                    <a:pt x="25955" y="279628"/>
                    <a:pt x="0" y="253673"/>
                    <a:pt x="0" y="221656"/>
                  </a:cubicBezTo>
                  <a:lnTo>
                    <a:pt x="0" y="57971"/>
                  </a:lnTo>
                  <a:cubicBezTo>
                    <a:pt x="0" y="25955"/>
                    <a:pt x="25955" y="0"/>
                    <a:pt x="57971" y="0"/>
                  </a:cubicBezTo>
                  <a:close/>
                </a:path>
              </a:pathLst>
            </a:custGeom>
            <a:ln w="38100" cap="rnd">
              <a:solidFill>
                <a:srgbClr val="0032FF"/>
              </a:solidFill>
              <a:prstDash val="sysDot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76200"/>
              <a:ext cx="856047" cy="355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51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1079575" y="7125544"/>
            <a:ext cx="3205139" cy="1046959"/>
            <a:chOff x="0" y="0"/>
            <a:chExt cx="856047" cy="27962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56047" cy="279628"/>
            </a:xfrm>
            <a:custGeom>
              <a:avLst/>
              <a:gdLst/>
              <a:ahLst/>
              <a:cxnLst/>
              <a:rect l="l" t="t" r="r" b="b"/>
              <a:pathLst>
                <a:path w="856047" h="279628">
                  <a:moveTo>
                    <a:pt x="57971" y="0"/>
                  </a:moveTo>
                  <a:lnTo>
                    <a:pt x="798076" y="0"/>
                  </a:lnTo>
                  <a:cubicBezTo>
                    <a:pt x="830092" y="0"/>
                    <a:pt x="856047" y="25955"/>
                    <a:pt x="856047" y="57971"/>
                  </a:cubicBezTo>
                  <a:lnTo>
                    <a:pt x="856047" y="221656"/>
                  </a:lnTo>
                  <a:cubicBezTo>
                    <a:pt x="856047" y="253673"/>
                    <a:pt x="830092" y="279628"/>
                    <a:pt x="798076" y="279628"/>
                  </a:cubicBezTo>
                  <a:lnTo>
                    <a:pt x="57971" y="279628"/>
                  </a:lnTo>
                  <a:cubicBezTo>
                    <a:pt x="25955" y="279628"/>
                    <a:pt x="0" y="253673"/>
                    <a:pt x="0" y="221656"/>
                  </a:cubicBezTo>
                  <a:lnTo>
                    <a:pt x="0" y="57971"/>
                  </a:lnTo>
                  <a:cubicBezTo>
                    <a:pt x="0" y="25955"/>
                    <a:pt x="25955" y="0"/>
                    <a:pt x="57971" y="0"/>
                  </a:cubicBezTo>
                  <a:close/>
                </a:path>
              </a:pathLst>
            </a:custGeom>
            <a:ln w="38100" cap="rnd">
              <a:solidFill>
                <a:srgbClr val="0032FF"/>
              </a:solidFill>
              <a:prstDash val="sysDot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76200"/>
              <a:ext cx="856047" cy="355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51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4567595" y="7125544"/>
            <a:ext cx="3205139" cy="1046959"/>
            <a:chOff x="0" y="0"/>
            <a:chExt cx="856047" cy="27962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56047" cy="279628"/>
            </a:xfrm>
            <a:custGeom>
              <a:avLst/>
              <a:gdLst/>
              <a:ahLst/>
              <a:cxnLst/>
              <a:rect l="l" t="t" r="r" b="b"/>
              <a:pathLst>
                <a:path w="856047" h="279628">
                  <a:moveTo>
                    <a:pt x="57971" y="0"/>
                  </a:moveTo>
                  <a:lnTo>
                    <a:pt x="798076" y="0"/>
                  </a:lnTo>
                  <a:cubicBezTo>
                    <a:pt x="830092" y="0"/>
                    <a:pt x="856047" y="25955"/>
                    <a:pt x="856047" y="57971"/>
                  </a:cubicBezTo>
                  <a:lnTo>
                    <a:pt x="856047" y="221656"/>
                  </a:lnTo>
                  <a:cubicBezTo>
                    <a:pt x="856047" y="253673"/>
                    <a:pt x="830092" y="279628"/>
                    <a:pt x="798076" y="279628"/>
                  </a:cubicBezTo>
                  <a:lnTo>
                    <a:pt x="57971" y="279628"/>
                  </a:lnTo>
                  <a:cubicBezTo>
                    <a:pt x="25955" y="279628"/>
                    <a:pt x="0" y="253673"/>
                    <a:pt x="0" y="221656"/>
                  </a:cubicBezTo>
                  <a:lnTo>
                    <a:pt x="0" y="57971"/>
                  </a:lnTo>
                  <a:cubicBezTo>
                    <a:pt x="0" y="25955"/>
                    <a:pt x="25955" y="0"/>
                    <a:pt x="57971" y="0"/>
                  </a:cubicBezTo>
                  <a:close/>
                </a:path>
              </a:pathLst>
            </a:custGeom>
            <a:ln w="38100" cap="rnd">
              <a:solidFill>
                <a:srgbClr val="0032FF"/>
              </a:solidFill>
              <a:prstDash val="sysDot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76200"/>
              <a:ext cx="856047" cy="355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51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4494270" y="8422648"/>
            <a:ext cx="2567464" cy="850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Municipios con registro IRA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669467" y="8422648"/>
            <a:ext cx="3159555" cy="1289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Municipios con estación IDEAM directa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770663" y="7463286"/>
            <a:ext cx="957164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4"/>
              </a:lnSpc>
              <a:spcBef>
                <a:spcPct val="0"/>
              </a:spcBef>
            </a:pPr>
            <a:r>
              <a:rPr lang="en-US" sz="2499" b="1" u="none" strike="noStrik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38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370314" y="8422648"/>
            <a:ext cx="2623661" cy="850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Período histórico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669974" y="7463286"/>
            <a:ext cx="2024340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4"/>
              </a:lnSpc>
              <a:spcBef>
                <a:spcPct val="0"/>
              </a:spcBef>
            </a:pPr>
            <a:r>
              <a:rPr lang="en-US" sz="2499" b="1" u="none" strike="noStrik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2018-2023 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5166002" y="8422648"/>
            <a:ext cx="2008325" cy="850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Período en tiempo real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4788741" y="7272786"/>
            <a:ext cx="2762847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4"/>
              </a:lnSpc>
              <a:spcBef>
                <a:spcPct val="0"/>
              </a:spcBef>
            </a:pPr>
            <a:r>
              <a:rPr lang="en-US" sz="2499" b="1" u="none" strike="noStrik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Actualizable semanalmente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479652" y="7125544"/>
            <a:ext cx="3553725" cy="1046959"/>
            <a:chOff x="0" y="0"/>
            <a:chExt cx="949149" cy="279628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949149" cy="279628"/>
            </a:xfrm>
            <a:custGeom>
              <a:avLst/>
              <a:gdLst/>
              <a:ahLst/>
              <a:cxnLst/>
              <a:rect l="l" t="t" r="r" b="b"/>
              <a:pathLst>
                <a:path w="949149" h="279628">
                  <a:moveTo>
                    <a:pt x="52285" y="0"/>
                  </a:moveTo>
                  <a:lnTo>
                    <a:pt x="896864" y="0"/>
                  </a:lnTo>
                  <a:cubicBezTo>
                    <a:pt x="910731" y="0"/>
                    <a:pt x="924030" y="5509"/>
                    <a:pt x="933835" y="15314"/>
                  </a:cubicBezTo>
                  <a:cubicBezTo>
                    <a:pt x="943641" y="25119"/>
                    <a:pt x="949149" y="38418"/>
                    <a:pt x="949149" y="52285"/>
                  </a:cubicBezTo>
                  <a:lnTo>
                    <a:pt x="949149" y="227343"/>
                  </a:lnTo>
                  <a:cubicBezTo>
                    <a:pt x="949149" y="241210"/>
                    <a:pt x="943641" y="254509"/>
                    <a:pt x="933835" y="264314"/>
                  </a:cubicBezTo>
                  <a:cubicBezTo>
                    <a:pt x="924030" y="274119"/>
                    <a:pt x="910731" y="279628"/>
                    <a:pt x="896864" y="279628"/>
                  </a:cubicBezTo>
                  <a:lnTo>
                    <a:pt x="52285" y="279628"/>
                  </a:lnTo>
                  <a:cubicBezTo>
                    <a:pt x="38418" y="279628"/>
                    <a:pt x="25119" y="274119"/>
                    <a:pt x="15314" y="264314"/>
                  </a:cubicBezTo>
                  <a:cubicBezTo>
                    <a:pt x="5509" y="254509"/>
                    <a:pt x="0" y="241210"/>
                    <a:pt x="0" y="227343"/>
                  </a:cubicBezTo>
                  <a:lnTo>
                    <a:pt x="0" y="52285"/>
                  </a:lnTo>
                  <a:cubicBezTo>
                    <a:pt x="0" y="38418"/>
                    <a:pt x="5509" y="25119"/>
                    <a:pt x="15314" y="15314"/>
                  </a:cubicBezTo>
                  <a:cubicBezTo>
                    <a:pt x="25119" y="5509"/>
                    <a:pt x="38418" y="0"/>
                    <a:pt x="52285" y="0"/>
                  </a:cubicBezTo>
                  <a:close/>
                </a:path>
              </a:pathLst>
            </a:custGeom>
            <a:ln w="38100" cap="rnd">
              <a:solidFill>
                <a:srgbClr val="0032FF"/>
              </a:solidFill>
              <a:prstDash val="sysDot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76200"/>
              <a:ext cx="949149" cy="355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51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1236030" y="8422648"/>
            <a:ext cx="2245631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Granularidad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37596" y="7272786"/>
            <a:ext cx="3837836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4"/>
              </a:lnSpc>
              <a:spcBef>
                <a:spcPct val="0"/>
              </a:spcBef>
            </a:pPr>
            <a:r>
              <a:rPr lang="en-US" sz="2499" b="1" u="none" strike="noStrik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Municipio × Semana Epidemiológica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7948" y="2087863"/>
            <a:ext cx="5753061" cy="7784774"/>
            <a:chOff x="0" y="0"/>
            <a:chExt cx="1483250" cy="20070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83250" cy="2007065"/>
            </a:xfrm>
            <a:custGeom>
              <a:avLst/>
              <a:gdLst/>
              <a:ahLst/>
              <a:cxnLst/>
              <a:rect l="l" t="t" r="r" b="b"/>
              <a:pathLst>
                <a:path w="1483250" h="2007065">
                  <a:moveTo>
                    <a:pt x="60557" y="0"/>
                  </a:moveTo>
                  <a:lnTo>
                    <a:pt x="1422693" y="0"/>
                  </a:lnTo>
                  <a:cubicBezTo>
                    <a:pt x="1438754" y="0"/>
                    <a:pt x="1454157" y="6380"/>
                    <a:pt x="1465513" y="17737"/>
                  </a:cubicBezTo>
                  <a:cubicBezTo>
                    <a:pt x="1476870" y="29093"/>
                    <a:pt x="1483250" y="44496"/>
                    <a:pt x="1483250" y="60557"/>
                  </a:cubicBezTo>
                  <a:lnTo>
                    <a:pt x="1483250" y="1946508"/>
                  </a:lnTo>
                  <a:cubicBezTo>
                    <a:pt x="1483250" y="1979953"/>
                    <a:pt x="1456138" y="2007065"/>
                    <a:pt x="1422693" y="2007065"/>
                  </a:cubicBezTo>
                  <a:lnTo>
                    <a:pt x="60557" y="2007065"/>
                  </a:lnTo>
                  <a:cubicBezTo>
                    <a:pt x="44496" y="2007065"/>
                    <a:pt x="29093" y="2000685"/>
                    <a:pt x="17737" y="1989328"/>
                  </a:cubicBezTo>
                  <a:cubicBezTo>
                    <a:pt x="6380" y="1977972"/>
                    <a:pt x="0" y="1962569"/>
                    <a:pt x="0" y="1946508"/>
                  </a:cubicBezTo>
                  <a:lnTo>
                    <a:pt x="0" y="60557"/>
                  </a:lnTo>
                  <a:cubicBezTo>
                    <a:pt x="0" y="44496"/>
                    <a:pt x="6380" y="29093"/>
                    <a:pt x="17737" y="17737"/>
                  </a:cubicBezTo>
                  <a:cubicBezTo>
                    <a:pt x="29093" y="6380"/>
                    <a:pt x="44496" y="0"/>
                    <a:pt x="60557" y="0"/>
                  </a:cubicBezTo>
                  <a:close/>
                </a:path>
              </a:pathLst>
            </a:custGeom>
            <a:ln w="38100" cap="rnd">
              <a:solidFill>
                <a:srgbClr val="A2C5A3"/>
              </a:solidFill>
              <a:prstDash val="sysDot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76200"/>
              <a:ext cx="1483250" cy="19308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8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36346" y="2291707"/>
            <a:ext cx="2064455" cy="1235639"/>
            <a:chOff x="0" y="0"/>
            <a:chExt cx="1181956" cy="70743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81956" cy="707437"/>
            </a:xfrm>
            <a:custGeom>
              <a:avLst/>
              <a:gdLst/>
              <a:ahLst/>
              <a:cxnLst/>
              <a:rect l="l" t="t" r="r" b="b"/>
              <a:pathLst>
                <a:path w="1181956" h="707437">
                  <a:moveTo>
                    <a:pt x="168755" y="0"/>
                  </a:moveTo>
                  <a:lnTo>
                    <a:pt x="1013202" y="0"/>
                  </a:lnTo>
                  <a:cubicBezTo>
                    <a:pt x="1057958" y="0"/>
                    <a:pt x="1100881" y="17779"/>
                    <a:pt x="1132529" y="49427"/>
                  </a:cubicBezTo>
                  <a:cubicBezTo>
                    <a:pt x="1164177" y="81075"/>
                    <a:pt x="1181956" y="123998"/>
                    <a:pt x="1181956" y="168755"/>
                  </a:cubicBezTo>
                  <a:lnTo>
                    <a:pt x="1181956" y="538682"/>
                  </a:lnTo>
                  <a:cubicBezTo>
                    <a:pt x="1181956" y="631883"/>
                    <a:pt x="1106402" y="707437"/>
                    <a:pt x="1013202" y="707437"/>
                  </a:cubicBezTo>
                  <a:lnTo>
                    <a:pt x="168755" y="707437"/>
                  </a:lnTo>
                  <a:cubicBezTo>
                    <a:pt x="123998" y="707437"/>
                    <a:pt x="81075" y="689658"/>
                    <a:pt x="49427" y="658010"/>
                  </a:cubicBezTo>
                  <a:cubicBezTo>
                    <a:pt x="17779" y="626362"/>
                    <a:pt x="0" y="583439"/>
                    <a:pt x="0" y="538682"/>
                  </a:cubicBezTo>
                  <a:lnTo>
                    <a:pt x="0" y="168755"/>
                  </a:lnTo>
                  <a:cubicBezTo>
                    <a:pt x="0" y="123998"/>
                    <a:pt x="17779" y="81075"/>
                    <a:pt x="49427" y="49427"/>
                  </a:cubicBezTo>
                  <a:cubicBezTo>
                    <a:pt x="81075" y="17779"/>
                    <a:pt x="123998" y="0"/>
                    <a:pt x="168755" y="0"/>
                  </a:cubicBezTo>
                  <a:close/>
                </a:path>
              </a:pathLst>
            </a:custGeom>
            <a:ln w="38100" cap="rnd">
              <a:solidFill>
                <a:srgbClr val="A2C5A3"/>
              </a:solidFill>
              <a:prstDash val="sysDot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76200"/>
              <a:ext cx="1181956" cy="6312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8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441254" y="2291707"/>
            <a:ext cx="2064455" cy="1235639"/>
            <a:chOff x="0" y="0"/>
            <a:chExt cx="1181956" cy="70743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81956" cy="707437"/>
            </a:xfrm>
            <a:custGeom>
              <a:avLst/>
              <a:gdLst/>
              <a:ahLst/>
              <a:cxnLst/>
              <a:rect l="l" t="t" r="r" b="b"/>
              <a:pathLst>
                <a:path w="1181956" h="707437">
                  <a:moveTo>
                    <a:pt x="168755" y="0"/>
                  </a:moveTo>
                  <a:lnTo>
                    <a:pt x="1013202" y="0"/>
                  </a:lnTo>
                  <a:cubicBezTo>
                    <a:pt x="1057958" y="0"/>
                    <a:pt x="1100881" y="17779"/>
                    <a:pt x="1132529" y="49427"/>
                  </a:cubicBezTo>
                  <a:cubicBezTo>
                    <a:pt x="1164177" y="81075"/>
                    <a:pt x="1181956" y="123998"/>
                    <a:pt x="1181956" y="168755"/>
                  </a:cubicBezTo>
                  <a:lnTo>
                    <a:pt x="1181956" y="538682"/>
                  </a:lnTo>
                  <a:cubicBezTo>
                    <a:pt x="1181956" y="631883"/>
                    <a:pt x="1106402" y="707437"/>
                    <a:pt x="1013202" y="707437"/>
                  </a:cubicBezTo>
                  <a:lnTo>
                    <a:pt x="168755" y="707437"/>
                  </a:lnTo>
                  <a:cubicBezTo>
                    <a:pt x="123998" y="707437"/>
                    <a:pt x="81075" y="689658"/>
                    <a:pt x="49427" y="658010"/>
                  </a:cubicBezTo>
                  <a:cubicBezTo>
                    <a:pt x="17779" y="626362"/>
                    <a:pt x="0" y="583439"/>
                    <a:pt x="0" y="538682"/>
                  </a:cubicBezTo>
                  <a:lnTo>
                    <a:pt x="0" y="168755"/>
                  </a:lnTo>
                  <a:cubicBezTo>
                    <a:pt x="0" y="123998"/>
                    <a:pt x="17779" y="81075"/>
                    <a:pt x="49427" y="49427"/>
                  </a:cubicBezTo>
                  <a:cubicBezTo>
                    <a:pt x="81075" y="17779"/>
                    <a:pt x="123998" y="0"/>
                    <a:pt x="168755" y="0"/>
                  </a:cubicBezTo>
                  <a:close/>
                </a:path>
              </a:pathLst>
            </a:custGeom>
            <a:ln w="38100" cap="rnd">
              <a:solidFill>
                <a:srgbClr val="A2C5A3"/>
              </a:solidFill>
              <a:prstDash val="sysDot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76200"/>
              <a:ext cx="1181956" cy="6312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8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441254" y="4245698"/>
            <a:ext cx="2064455" cy="1235639"/>
            <a:chOff x="0" y="0"/>
            <a:chExt cx="1181956" cy="70743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81956" cy="707437"/>
            </a:xfrm>
            <a:custGeom>
              <a:avLst/>
              <a:gdLst/>
              <a:ahLst/>
              <a:cxnLst/>
              <a:rect l="l" t="t" r="r" b="b"/>
              <a:pathLst>
                <a:path w="1181956" h="707437">
                  <a:moveTo>
                    <a:pt x="168755" y="0"/>
                  </a:moveTo>
                  <a:lnTo>
                    <a:pt x="1013202" y="0"/>
                  </a:lnTo>
                  <a:cubicBezTo>
                    <a:pt x="1057958" y="0"/>
                    <a:pt x="1100881" y="17779"/>
                    <a:pt x="1132529" y="49427"/>
                  </a:cubicBezTo>
                  <a:cubicBezTo>
                    <a:pt x="1164177" y="81075"/>
                    <a:pt x="1181956" y="123998"/>
                    <a:pt x="1181956" y="168755"/>
                  </a:cubicBezTo>
                  <a:lnTo>
                    <a:pt x="1181956" y="538682"/>
                  </a:lnTo>
                  <a:cubicBezTo>
                    <a:pt x="1181956" y="631883"/>
                    <a:pt x="1106402" y="707437"/>
                    <a:pt x="1013202" y="707437"/>
                  </a:cubicBezTo>
                  <a:lnTo>
                    <a:pt x="168755" y="707437"/>
                  </a:lnTo>
                  <a:cubicBezTo>
                    <a:pt x="123998" y="707437"/>
                    <a:pt x="81075" y="689658"/>
                    <a:pt x="49427" y="658010"/>
                  </a:cubicBezTo>
                  <a:cubicBezTo>
                    <a:pt x="17779" y="626362"/>
                    <a:pt x="0" y="583439"/>
                    <a:pt x="0" y="538682"/>
                  </a:cubicBezTo>
                  <a:lnTo>
                    <a:pt x="0" y="168755"/>
                  </a:lnTo>
                  <a:cubicBezTo>
                    <a:pt x="0" y="123998"/>
                    <a:pt x="17779" y="81075"/>
                    <a:pt x="49427" y="49427"/>
                  </a:cubicBezTo>
                  <a:cubicBezTo>
                    <a:pt x="81075" y="17779"/>
                    <a:pt x="123998" y="0"/>
                    <a:pt x="168755" y="0"/>
                  </a:cubicBezTo>
                  <a:close/>
                </a:path>
              </a:pathLst>
            </a:custGeom>
            <a:ln w="38100" cap="rnd">
              <a:solidFill>
                <a:srgbClr val="A2C5A3"/>
              </a:solidFill>
              <a:prstDash val="sysDot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76200"/>
              <a:ext cx="1181956" cy="6312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8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17150" y="4234209"/>
            <a:ext cx="2102846" cy="1258618"/>
            <a:chOff x="0" y="0"/>
            <a:chExt cx="1181956" cy="70743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81956" cy="707437"/>
            </a:xfrm>
            <a:custGeom>
              <a:avLst/>
              <a:gdLst/>
              <a:ahLst/>
              <a:cxnLst/>
              <a:rect l="l" t="t" r="r" b="b"/>
              <a:pathLst>
                <a:path w="1181956" h="707437">
                  <a:moveTo>
                    <a:pt x="165674" y="0"/>
                  </a:moveTo>
                  <a:lnTo>
                    <a:pt x="1016282" y="0"/>
                  </a:lnTo>
                  <a:cubicBezTo>
                    <a:pt x="1060222" y="0"/>
                    <a:pt x="1102362" y="17455"/>
                    <a:pt x="1133431" y="48525"/>
                  </a:cubicBezTo>
                  <a:cubicBezTo>
                    <a:pt x="1164501" y="79595"/>
                    <a:pt x="1181956" y="121734"/>
                    <a:pt x="1181956" y="165674"/>
                  </a:cubicBezTo>
                  <a:lnTo>
                    <a:pt x="1181956" y="541763"/>
                  </a:lnTo>
                  <a:cubicBezTo>
                    <a:pt x="1181956" y="633262"/>
                    <a:pt x="1107782" y="707437"/>
                    <a:pt x="1016282" y="707437"/>
                  </a:cubicBezTo>
                  <a:lnTo>
                    <a:pt x="165674" y="707437"/>
                  </a:lnTo>
                  <a:cubicBezTo>
                    <a:pt x="121734" y="707437"/>
                    <a:pt x="79595" y="689982"/>
                    <a:pt x="48525" y="658912"/>
                  </a:cubicBezTo>
                  <a:cubicBezTo>
                    <a:pt x="17455" y="627842"/>
                    <a:pt x="0" y="585703"/>
                    <a:pt x="0" y="541763"/>
                  </a:cubicBezTo>
                  <a:lnTo>
                    <a:pt x="0" y="165674"/>
                  </a:lnTo>
                  <a:cubicBezTo>
                    <a:pt x="0" y="121734"/>
                    <a:pt x="17455" y="79595"/>
                    <a:pt x="48525" y="48525"/>
                  </a:cubicBezTo>
                  <a:cubicBezTo>
                    <a:pt x="79595" y="17455"/>
                    <a:pt x="121734" y="0"/>
                    <a:pt x="165674" y="0"/>
                  </a:cubicBezTo>
                  <a:close/>
                </a:path>
              </a:pathLst>
            </a:custGeom>
            <a:ln w="38100" cap="rnd">
              <a:solidFill>
                <a:srgbClr val="A2C5A3"/>
              </a:solidFill>
              <a:prstDash val="sysDot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76200"/>
              <a:ext cx="1181956" cy="6312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8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267708" y="2087863"/>
            <a:ext cx="11214972" cy="4183123"/>
            <a:chOff x="0" y="0"/>
            <a:chExt cx="2891436" cy="107849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891436" cy="1078490"/>
            </a:xfrm>
            <a:custGeom>
              <a:avLst/>
              <a:gdLst/>
              <a:ahLst/>
              <a:cxnLst/>
              <a:rect l="l" t="t" r="r" b="b"/>
              <a:pathLst>
                <a:path w="2891436" h="1078490">
                  <a:moveTo>
                    <a:pt x="31064" y="0"/>
                  </a:moveTo>
                  <a:lnTo>
                    <a:pt x="2860372" y="0"/>
                  </a:lnTo>
                  <a:cubicBezTo>
                    <a:pt x="2877528" y="0"/>
                    <a:pt x="2891436" y="13908"/>
                    <a:pt x="2891436" y="31064"/>
                  </a:cubicBezTo>
                  <a:lnTo>
                    <a:pt x="2891436" y="1047425"/>
                  </a:lnTo>
                  <a:cubicBezTo>
                    <a:pt x="2891436" y="1064582"/>
                    <a:pt x="2877528" y="1078490"/>
                    <a:pt x="2860372" y="1078490"/>
                  </a:cubicBezTo>
                  <a:lnTo>
                    <a:pt x="31064" y="1078490"/>
                  </a:lnTo>
                  <a:cubicBezTo>
                    <a:pt x="13908" y="1078490"/>
                    <a:pt x="0" y="1064582"/>
                    <a:pt x="0" y="1047425"/>
                  </a:cubicBezTo>
                  <a:lnTo>
                    <a:pt x="0" y="31064"/>
                  </a:lnTo>
                  <a:cubicBezTo>
                    <a:pt x="0" y="13908"/>
                    <a:pt x="13908" y="0"/>
                    <a:pt x="31064" y="0"/>
                  </a:cubicBezTo>
                  <a:close/>
                </a:path>
              </a:pathLst>
            </a:custGeom>
            <a:ln w="38100" cap="rnd">
              <a:solidFill>
                <a:srgbClr val="A2C5A3"/>
              </a:solidFill>
              <a:prstDash val="sysDot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76200"/>
              <a:ext cx="2891436" cy="10022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8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267708" y="6550076"/>
            <a:ext cx="11772344" cy="3103486"/>
            <a:chOff x="0" y="0"/>
            <a:chExt cx="3035137" cy="80013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035137" cy="800139"/>
            </a:xfrm>
            <a:custGeom>
              <a:avLst/>
              <a:gdLst/>
              <a:ahLst/>
              <a:cxnLst/>
              <a:rect l="l" t="t" r="r" b="b"/>
              <a:pathLst>
                <a:path w="3035137" h="800139">
                  <a:moveTo>
                    <a:pt x="29594" y="0"/>
                  </a:moveTo>
                  <a:lnTo>
                    <a:pt x="3005544" y="0"/>
                  </a:lnTo>
                  <a:cubicBezTo>
                    <a:pt x="3013392" y="0"/>
                    <a:pt x="3020920" y="3118"/>
                    <a:pt x="3026470" y="8668"/>
                  </a:cubicBezTo>
                  <a:cubicBezTo>
                    <a:pt x="3032020" y="14218"/>
                    <a:pt x="3035137" y="21745"/>
                    <a:pt x="3035137" y="29594"/>
                  </a:cubicBezTo>
                  <a:lnTo>
                    <a:pt x="3035137" y="770545"/>
                  </a:lnTo>
                  <a:cubicBezTo>
                    <a:pt x="3035137" y="778394"/>
                    <a:pt x="3032020" y="785921"/>
                    <a:pt x="3026470" y="791471"/>
                  </a:cubicBezTo>
                  <a:cubicBezTo>
                    <a:pt x="3020920" y="797021"/>
                    <a:pt x="3013392" y="800139"/>
                    <a:pt x="3005544" y="800139"/>
                  </a:cubicBezTo>
                  <a:lnTo>
                    <a:pt x="29594" y="800139"/>
                  </a:lnTo>
                  <a:cubicBezTo>
                    <a:pt x="21745" y="800139"/>
                    <a:pt x="14218" y="797021"/>
                    <a:pt x="8668" y="791471"/>
                  </a:cubicBezTo>
                  <a:cubicBezTo>
                    <a:pt x="3118" y="785921"/>
                    <a:pt x="0" y="778394"/>
                    <a:pt x="0" y="770545"/>
                  </a:cubicBezTo>
                  <a:lnTo>
                    <a:pt x="0" y="29594"/>
                  </a:lnTo>
                  <a:cubicBezTo>
                    <a:pt x="0" y="21745"/>
                    <a:pt x="3118" y="14218"/>
                    <a:pt x="8668" y="8668"/>
                  </a:cubicBezTo>
                  <a:cubicBezTo>
                    <a:pt x="14218" y="3118"/>
                    <a:pt x="21745" y="0"/>
                    <a:pt x="29594" y="0"/>
                  </a:cubicBezTo>
                  <a:close/>
                </a:path>
              </a:pathLst>
            </a:custGeom>
            <a:ln w="38100" cap="rnd">
              <a:solidFill>
                <a:srgbClr val="A2C5A3"/>
              </a:solidFill>
              <a:prstDash val="sysDot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76200"/>
              <a:ext cx="3035137" cy="7239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8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383341" y="6186878"/>
            <a:ext cx="5482274" cy="3195125"/>
          </a:xfrm>
          <a:custGeom>
            <a:avLst/>
            <a:gdLst/>
            <a:ahLst/>
            <a:cxnLst/>
            <a:rect l="l" t="t" r="r" b="b"/>
            <a:pathLst>
              <a:path w="5482274" h="3195125">
                <a:moveTo>
                  <a:pt x="0" y="0"/>
                </a:moveTo>
                <a:lnTo>
                  <a:pt x="5482274" y="0"/>
                </a:lnTo>
                <a:lnTo>
                  <a:pt x="5482274" y="3195125"/>
                </a:lnTo>
                <a:lnTo>
                  <a:pt x="0" y="31951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30" r="-2230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24" name="Freeform 24"/>
          <p:cNvSpPr/>
          <p:nvPr/>
        </p:nvSpPr>
        <p:spPr>
          <a:xfrm>
            <a:off x="8234673" y="2189785"/>
            <a:ext cx="6730329" cy="3979279"/>
          </a:xfrm>
          <a:custGeom>
            <a:avLst/>
            <a:gdLst/>
            <a:ahLst/>
            <a:cxnLst/>
            <a:rect l="l" t="t" r="r" b="b"/>
            <a:pathLst>
              <a:path w="6730329" h="3979279">
                <a:moveTo>
                  <a:pt x="0" y="0"/>
                </a:moveTo>
                <a:lnTo>
                  <a:pt x="6730330" y="0"/>
                </a:lnTo>
                <a:lnTo>
                  <a:pt x="6730330" y="3979279"/>
                </a:lnTo>
                <a:lnTo>
                  <a:pt x="0" y="3979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25" name="TextBox 25"/>
          <p:cNvSpPr txBox="1"/>
          <p:nvPr/>
        </p:nvSpPr>
        <p:spPr>
          <a:xfrm>
            <a:off x="1102366" y="2672717"/>
            <a:ext cx="1732416" cy="502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5"/>
              </a:lnSpc>
            </a:pPr>
            <a:r>
              <a:rPr lang="en-US" sz="3496" b="1" spc="-87">
                <a:solidFill>
                  <a:srgbClr val="1D4E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1,7399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607273" y="2672717"/>
            <a:ext cx="1732416" cy="502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5"/>
              </a:lnSpc>
            </a:pPr>
            <a:r>
              <a:rPr lang="en-US" sz="3496" b="1" spc="-87">
                <a:solidFill>
                  <a:srgbClr val="1D4E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60,7%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607273" y="4626707"/>
            <a:ext cx="1732416" cy="502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5"/>
              </a:lnSpc>
            </a:pPr>
            <a:r>
              <a:rPr lang="en-US" sz="3496" b="1" spc="-87">
                <a:solidFill>
                  <a:srgbClr val="1D4E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16,2%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36346" y="3651985"/>
            <a:ext cx="2064455" cy="451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03"/>
              </a:lnSpc>
              <a:spcBef>
                <a:spcPct val="0"/>
              </a:spcBef>
            </a:pPr>
            <a:r>
              <a:rPr lang="en-US" sz="1288" u="none" strike="noStrike">
                <a:solidFill>
                  <a:srgbClr val="1D4ED8"/>
                </a:solidFill>
                <a:latin typeface="Montserrat"/>
                <a:ea typeface="Montserrat"/>
                <a:cs typeface="Montserrat"/>
                <a:sym typeface="Montserrat"/>
              </a:rPr>
              <a:t>Promedio de error por municipio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441254" y="3651985"/>
            <a:ext cx="2064455" cy="451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03"/>
              </a:lnSpc>
              <a:spcBef>
                <a:spcPct val="0"/>
              </a:spcBef>
            </a:pPr>
            <a:r>
              <a:rPr lang="en-US" sz="1288" u="none" strike="noStrike">
                <a:solidFill>
                  <a:srgbClr val="1D4ED8"/>
                </a:solidFill>
                <a:latin typeface="Montserrat"/>
                <a:ea typeface="Montserrat"/>
                <a:cs typeface="Montserrat"/>
                <a:sym typeface="Montserrat"/>
              </a:rPr>
              <a:t>Varianza explicada por modelo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441254" y="5698459"/>
            <a:ext cx="2064455" cy="451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03"/>
              </a:lnSpc>
            </a:pPr>
            <a:r>
              <a:rPr lang="en-US" sz="1288">
                <a:solidFill>
                  <a:srgbClr val="1D4ED8"/>
                </a:solidFill>
                <a:latin typeface="Montserrat"/>
                <a:ea typeface="Montserrat"/>
                <a:cs typeface="Montserrat"/>
                <a:sym typeface="Montserrat"/>
              </a:rPr>
              <a:t>Mejora frente al modelo base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86257" y="4621772"/>
            <a:ext cx="1764632" cy="51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7"/>
              </a:lnSpc>
            </a:pPr>
            <a:r>
              <a:rPr lang="en-US" sz="3561" b="1" spc="-89">
                <a:solidFill>
                  <a:srgbClr val="1D4E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1.0295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17150" y="5711189"/>
            <a:ext cx="2102846" cy="227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36"/>
              </a:lnSpc>
              <a:spcBef>
                <a:spcPct val="0"/>
              </a:spcBef>
            </a:pPr>
            <a:r>
              <a:rPr lang="en-US" sz="1312">
                <a:solidFill>
                  <a:srgbClr val="1D4ED8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1312" u="none" strike="noStrike">
                <a:solidFill>
                  <a:srgbClr val="1D4ED8"/>
                </a:solidFill>
                <a:latin typeface="Montserrat"/>
                <a:ea typeface="Montserrat"/>
                <a:cs typeface="Montserrat"/>
                <a:sym typeface="Montserrat"/>
              </a:rPr>
              <a:t>rror absoluto medio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591558" y="6635677"/>
            <a:ext cx="10016559" cy="280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 dirty="0" err="1">
                <a:solidFill>
                  <a:srgbClr val="1D4E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Índice</a:t>
            </a:r>
            <a:r>
              <a:rPr lang="en-US" sz="2000" b="1" dirty="0">
                <a:solidFill>
                  <a:srgbClr val="1D4E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000" b="1" dirty="0" err="1">
                <a:solidFill>
                  <a:srgbClr val="1D4E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Preventivo</a:t>
            </a:r>
            <a:r>
              <a:rPr lang="en-US" sz="2000" b="1" dirty="0">
                <a:solidFill>
                  <a:srgbClr val="1D4E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Territorial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 b="1" dirty="0">
              <a:solidFill>
                <a:srgbClr val="1D4ED8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1D4E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(IPT) IPT = 0.40 × P(t100 )+ 0.30 × P(pm25 )+ 0.15 × P(</a:t>
            </a:r>
            <a:r>
              <a:rPr lang="en-US" sz="2000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ipmp</a:t>
            </a:r>
            <a:r>
              <a:rPr lang="en-US" sz="2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) + 0.15 × P(hm )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 b="1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1D4E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t100 = tasa_ira_100k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1D4E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pm25 = pm25_avg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 dirty="0" err="1">
                <a:solidFill>
                  <a:srgbClr val="1D4E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ipmp</a:t>
            </a:r>
            <a:r>
              <a:rPr lang="en-US" sz="2000" b="1" dirty="0">
                <a:solidFill>
                  <a:srgbClr val="1D4E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= </a:t>
            </a:r>
            <a:r>
              <a:rPr lang="en-US" sz="2000" b="1" dirty="0" err="1">
                <a:solidFill>
                  <a:srgbClr val="1D4E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ipm_pct</a:t>
            </a:r>
            <a:endParaRPr lang="en-US" sz="2000" b="1" dirty="0">
              <a:solidFill>
                <a:srgbClr val="1D4ED8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1D4E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hm = </a:t>
            </a:r>
            <a:r>
              <a:rPr lang="en-US" sz="2000" b="1" dirty="0" err="1">
                <a:solidFill>
                  <a:srgbClr val="1D4E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hacinamiento</a:t>
            </a:r>
            <a:endParaRPr lang="en-US" sz="2000" b="1" dirty="0">
              <a:solidFill>
                <a:srgbClr val="1D4ED8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352799" y="528003"/>
            <a:ext cx="10077212" cy="1077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59"/>
              </a:lnSpc>
              <a:spcBef>
                <a:spcPct val="0"/>
              </a:spcBef>
            </a:pPr>
            <a:r>
              <a:rPr lang="en-US" sz="7599" b="1" u="none" strike="noStrike" spc="-189">
                <a:solidFill>
                  <a:srgbClr val="1D4E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Inteligencia Artificial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5875925" y="7985003"/>
            <a:ext cx="1817965" cy="1397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Niveles: 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Bajo (0-33) 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Medio (34-66) 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Alto (67-100)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52799" y="9401053"/>
            <a:ext cx="5512816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Split estrictamente temporal — sin fuga de información del futuro al pasado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2470" y="1763577"/>
            <a:ext cx="5308674" cy="2066214"/>
            <a:chOff x="0" y="0"/>
            <a:chExt cx="1398169" cy="5441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8169" cy="544188"/>
            </a:xfrm>
            <a:custGeom>
              <a:avLst/>
              <a:gdLst/>
              <a:ahLst/>
              <a:cxnLst/>
              <a:rect l="l" t="t" r="r" b="b"/>
              <a:pathLst>
                <a:path w="1398169" h="544188">
                  <a:moveTo>
                    <a:pt x="5833" y="0"/>
                  </a:moveTo>
                  <a:lnTo>
                    <a:pt x="1392336" y="0"/>
                  </a:lnTo>
                  <a:cubicBezTo>
                    <a:pt x="1395558" y="0"/>
                    <a:pt x="1398169" y="2612"/>
                    <a:pt x="1398169" y="5833"/>
                  </a:cubicBezTo>
                  <a:lnTo>
                    <a:pt x="1398169" y="538355"/>
                  </a:lnTo>
                  <a:cubicBezTo>
                    <a:pt x="1398169" y="539902"/>
                    <a:pt x="1397555" y="541386"/>
                    <a:pt x="1396461" y="542480"/>
                  </a:cubicBezTo>
                  <a:cubicBezTo>
                    <a:pt x="1395367" y="543574"/>
                    <a:pt x="1393883" y="544188"/>
                    <a:pt x="1392336" y="544188"/>
                  </a:cubicBezTo>
                  <a:lnTo>
                    <a:pt x="5833" y="544188"/>
                  </a:lnTo>
                  <a:cubicBezTo>
                    <a:pt x="4286" y="544188"/>
                    <a:pt x="2803" y="543574"/>
                    <a:pt x="1709" y="542480"/>
                  </a:cubicBezTo>
                  <a:cubicBezTo>
                    <a:pt x="615" y="541386"/>
                    <a:pt x="0" y="539902"/>
                    <a:pt x="0" y="538355"/>
                  </a:cubicBezTo>
                  <a:lnTo>
                    <a:pt x="0" y="5833"/>
                  </a:lnTo>
                  <a:cubicBezTo>
                    <a:pt x="0" y="4286"/>
                    <a:pt x="615" y="2803"/>
                    <a:pt x="1709" y="1709"/>
                  </a:cubicBezTo>
                  <a:cubicBezTo>
                    <a:pt x="2803" y="615"/>
                    <a:pt x="4286" y="0"/>
                    <a:pt x="5833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ysDot"/>
              <a:miter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98169" cy="5918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3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32470" y="4629892"/>
            <a:ext cx="5755319" cy="5271671"/>
            <a:chOff x="0" y="0"/>
            <a:chExt cx="1460018" cy="13373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60018" cy="1337325"/>
            </a:xfrm>
            <a:custGeom>
              <a:avLst/>
              <a:gdLst/>
              <a:ahLst/>
              <a:cxnLst/>
              <a:rect l="l" t="t" r="r" b="b"/>
              <a:pathLst>
                <a:path w="1460018" h="1337325">
                  <a:moveTo>
                    <a:pt x="0" y="0"/>
                  </a:moveTo>
                  <a:lnTo>
                    <a:pt x="1460018" y="0"/>
                  </a:lnTo>
                  <a:lnTo>
                    <a:pt x="1460018" y="1337325"/>
                  </a:lnTo>
                  <a:lnTo>
                    <a:pt x="0" y="1337325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ysDot"/>
              <a:miter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460018" cy="1384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3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383039" y="1727936"/>
            <a:ext cx="11373830" cy="2428661"/>
            <a:chOff x="0" y="0"/>
            <a:chExt cx="2995577" cy="63964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995576" cy="639647"/>
            </a:xfrm>
            <a:custGeom>
              <a:avLst/>
              <a:gdLst/>
              <a:ahLst/>
              <a:cxnLst/>
              <a:rect l="l" t="t" r="r" b="b"/>
              <a:pathLst>
                <a:path w="2995576" h="639647">
                  <a:moveTo>
                    <a:pt x="10210" y="0"/>
                  </a:moveTo>
                  <a:lnTo>
                    <a:pt x="2985366" y="0"/>
                  </a:lnTo>
                  <a:cubicBezTo>
                    <a:pt x="2988074" y="0"/>
                    <a:pt x="2990671" y="1076"/>
                    <a:pt x="2992586" y="2990"/>
                  </a:cubicBezTo>
                  <a:cubicBezTo>
                    <a:pt x="2994501" y="4905"/>
                    <a:pt x="2995576" y="7502"/>
                    <a:pt x="2995576" y="10210"/>
                  </a:cubicBezTo>
                  <a:lnTo>
                    <a:pt x="2995576" y="629437"/>
                  </a:lnTo>
                  <a:cubicBezTo>
                    <a:pt x="2995576" y="632145"/>
                    <a:pt x="2994501" y="634742"/>
                    <a:pt x="2992586" y="636657"/>
                  </a:cubicBezTo>
                  <a:cubicBezTo>
                    <a:pt x="2990671" y="638572"/>
                    <a:pt x="2988074" y="639647"/>
                    <a:pt x="2985366" y="639647"/>
                  </a:cubicBezTo>
                  <a:lnTo>
                    <a:pt x="10210" y="639647"/>
                  </a:lnTo>
                  <a:cubicBezTo>
                    <a:pt x="4571" y="639647"/>
                    <a:pt x="0" y="635076"/>
                    <a:pt x="0" y="629437"/>
                  </a:cubicBezTo>
                  <a:lnTo>
                    <a:pt x="0" y="10210"/>
                  </a:lnTo>
                  <a:cubicBezTo>
                    <a:pt x="0" y="7502"/>
                    <a:pt x="1076" y="4905"/>
                    <a:pt x="2990" y="2990"/>
                  </a:cubicBezTo>
                  <a:cubicBezTo>
                    <a:pt x="4905" y="1076"/>
                    <a:pt x="7502" y="0"/>
                    <a:pt x="1021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ysDot"/>
              <a:miter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995577" cy="6872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3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554165" y="2154142"/>
            <a:ext cx="6049446" cy="1773079"/>
            <a:chOff x="0" y="0"/>
            <a:chExt cx="1593270" cy="4669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93270" cy="466984"/>
            </a:xfrm>
            <a:custGeom>
              <a:avLst/>
              <a:gdLst/>
              <a:ahLst/>
              <a:cxnLst/>
              <a:rect l="l" t="t" r="r" b="b"/>
              <a:pathLst>
                <a:path w="1593270" h="466984">
                  <a:moveTo>
                    <a:pt x="65268" y="0"/>
                  </a:moveTo>
                  <a:lnTo>
                    <a:pt x="1528001" y="0"/>
                  </a:lnTo>
                  <a:cubicBezTo>
                    <a:pt x="1545312" y="0"/>
                    <a:pt x="1561913" y="6876"/>
                    <a:pt x="1574153" y="19117"/>
                  </a:cubicBezTo>
                  <a:cubicBezTo>
                    <a:pt x="1586393" y="31357"/>
                    <a:pt x="1593270" y="47958"/>
                    <a:pt x="1593270" y="65268"/>
                  </a:cubicBezTo>
                  <a:lnTo>
                    <a:pt x="1593270" y="401715"/>
                  </a:lnTo>
                  <a:cubicBezTo>
                    <a:pt x="1593270" y="437762"/>
                    <a:pt x="1564048" y="466984"/>
                    <a:pt x="1528001" y="466984"/>
                  </a:cubicBezTo>
                  <a:lnTo>
                    <a:pt x="65268" y="466984"/>
                  </a:lnTo>
                  <a:cubicBezTo>
                    <a:pt x="29222" y="466984"/>
                    <a:pt x="0" y="437762"/>
                    <a:pt x="0" y="401715"/>
                  </a:cubicBezTo>
                  <a:lnTo>
                    <a:pt x="0" y="65268"/>
                  </a:lnTo>
                  <a:cubicBezTo>
                    <a:pt x="0" y="29222"/>
                    <a:pt x="29222" y="0"/>
                    <a:pt x="65268" y="0"/>
                  </a:cubicBezTo>
                  <a:close/>
                </a:path>
              </a:pathLst>
            </a:custGeom>
            <a:solidFill>
              <a:srgbClr val="BCD9D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593270" cy="5146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34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007070" y="4505325"/>
            <a:ext cx="9609091" cy="2229696"/>
            <a:chOff x="0" y="0"/>
            <a:chExt cx="2530789" cy="58724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530789" cy="587245"/>
            </a:xfrm>
            <a:custGeom>
              <a:avLst/>
              <a:gdLst/>
              <a:ahLst/>
              <a:cxnLst/>
              <a:rect l="l" t="t" r="r" b="b"/>
              <a:pathLst>
                <a:path w="2530789" h="587245">
                  <a:moveTo>
                    <a:pt x="13697" y="0"/>
                  </a:moveTo>
                  <a:lnTo>
                    <a:pt x="2517093" y="0"/>
                  </a:lnTo>
                  <a:cubicBezTo>
                    <a:pt x="2524657" y="0"/>
                    <a:pt x="2530789" y="6132"/>
                    <a:pt x="2530789" y="13697"/>
                  </a:cubicBezTo>
                  <a:lnTo>
                    <a:pt x="2530789" y="573548"/>
                  </a:lnTo>
                  <a:cubicBezTo>
                    <a:pt x="2530789" y="581113"/>
                    <a:pt x="2524657" y="587245"/>
                    <a:pt x="2517093" y="587245"/>
                  </a:cubicBezTo>
                  <a:lnTo>
                    <a:pt x="13697" y="587245"/>
                  </a:lnTo>
                  <a:cubicBezTo>
                    <a:pt x="6132" y="587245"/>
                    <a:pt x="0" y="581113"/>
                    <a:pt x="0" y="573548"/>
                  </a:cubicBezTo>
                  <a:lnTo>
                    <a:pt x="0" y="13697"/>
                  </a:lnTo>
                  <a:cubicBezTo>
                    <a:pt x="0" y="6132"/>
                    <a:pt x="6132" y="0"/>
                    <a:pt x="1369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ysDot"/>
              <a:miter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2530789" cy="634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34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300264" y="7781998"/>
            <a:ext cx="6347225" cy="2291263"/>
            <a:chOff x="0" y="0"/>
            <a:chExt cx="1899322" cy="68563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99322" cy="685630"/>
            </a:xfrm>
            <a:custGeom>
              <a:avLst/>
              <a:gdLst/>
              <a:ahLst/>
              <a:cxnLst/>
              <a:rect l="l" t="t" r="r" b="b"/>
              <a:pathLst>
                <a:path w="1899322" h="685630">
                  <a:moveTo>
                    <a:pt x="18296" y="0"/>
                  </a:moveTo>
                  <a:lnTo>
                    <a:pt x="1881026" y="0"/>
                  </a:lnTo>
                  <a:cubicBezTo>
                    <a:pt x="1891131" y="0"/>
                    <a:pt x="1899322" y="8191"/>
                    <a:pt x="1899322" y="18296"/>
                  </a:cubicBezTo>
                  <a:lnTo>
                    <a:pt x="1899322" y="667334"/>
                  </a:lnTo>
                  <a:cubicBezTo>
                    <a:pt x="1899322" y="677438"/>
                    <a:pt x="1891131" y="685630"/>
                    <a:pt x="1881026" y="685630"/>
                  </a:cubicBezTo>
                  <a:lnTo>
                    <a:pt x="18296" y="685630"/>
                  </a:lnTo>
                  <a:cubicBezTo>
                    <a:pt x="8191" y="685630"/>
                    <a:pt x="0" y="677438"/>
                    <a:pt x="0" y="667334"/>
                  </a:cubicBezTo>
                  <a:lnTo>
                    <a:pt x="0" y="18296"/>
                  </a:lnTo>
                  <a:cubicBezTo>
                    <a:pt x="0" y="8191"/>
                    <a:pt x="8191" y="0"/>
                    <a:pt x="18296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ysDot"/>
              <a:miter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899322" cy="7332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34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6601790" y="2713438"/>
            <a:ext cx="2171391" cy="695902"/>
          </a:xfrm>
          <a:custGeom>
            <a:avLst/>
            <a:gdLst/>
            <a:ahLst/>
            <a:cxnLst/>
            <a:rect l="l" t="t" r="r" b="b"/>
            <a:pathLst>
              <a:path w="2171391" h="695902">
                <a:moveTo>
                  <a:pt x="0" y="0"/>
                </a:moveTo>
                <a:lnTo>
                  <a:pt x="2171391" y="0"/>
                </a:lnTo>
                <a:lnTo>
                  <a:pt x="2171391" y="695902"/>
                </a:lnTo>
                <a:lnTo>
                  <a:pt x="0" y="6959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21" name="Freeform 21"/>
          <p:cNvSpPr/>
          <p:nvPr/>
        </p:nvSpPr>
        <p:spPr>
          <a:xfrm>
            <a:off x="9047355" y="2766957"/>
            <a:ext cx="2124104" cy="752729"/>
          </a:xfrm>
          <a:custGeom>
            <a:avLst/>
            <a:gdLst/>
            <a:ahLst/>
            <a:cxnLst/>
            <a:rect l="l" t="t" r="r" b="b"/>
            <a:pathLst>
              <a:path w="2124104" h="752729">
                <a:moveTo>
                  <a:pt x="0" y="0"/>
                </a:moveTo>
                <a:lnTo>
                  <a:pt x="2124104" y="0"/>
                </a:lnTo>
                <a:lnTo>
                  <a:pt x="2124104" y="752730"/>
                </a:lnTo>
                <a:lnTo>
                  <a:pt x="0" y="752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22" name="Freeform 22"/>
          <p:cNvSpPr/>
          <p:nvPr/>
        </p:nvSpPr>
        <p:spPr>
          <a:xfrm>
            <a:off x="11407533" y="2414762"/>
            <a:ext cx="1005014" cy="1293254"/>
          </a:xfrm>
          <a:custGeom>
            <a:avLst/>
            <a:gdLst/>
            <a:ahLst/>
            <a:cxnLst/>
            <a:rect l="l" t="t" r="r" b="b"/>
            <a:pathLst>
              <a:path w="1005014" h="1293254">
                <a:moveTo>
                  <a:pt x="0" y="0"/>
                </a:moveTo>
                <a:lnTo>
                  <a:pt x="1005014" y="0"/>
                </a:lnTo>
                <a:lnTo>
                  <a:pt x="1005014" y="1293254"/>
                </a:lnTo>
                <a:lnTo>
                  <a:pt x="0" y="1293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23" name="Freeform 23"/>
          <p:cNvSpPr/>
          <p:nvPr/>
        </p:nvSpPr>
        <p:spPr>
          <a:xfrm>
            <a:off x="12764972" y="2511030"/>
            <a:ext cx="1543278" cy="731961"/>
          </a:xfrm>
          <a:custGeom>
            <a:avLst/>
            <a:gdLst/>
            <a:ahLst/>
            <a:cxnLst/>
            <a:rect l="l" t="t" r="r" b="b"/>
            <a:pathLst>
              <a:path w="1543278" h="731961">
                <a:moveTo>
                  <a:pt x="0" y="0"/>
                </a:moveTo>
                <a:lnTo>
                  <a:pt x="1543278" y="0"/>
                </a:lnTo>
                <a:lnTo>
                  <a:pt x="1543278" y="731961"/>
                </a:lnTo>
                <a:lnTo>
                  <a:pt x="0" y="7319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59358" b="-51483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24" name="Freeform 24"/>
          <p:cNvSpPr/>
          <p:nvPr/>
        </p:nvSpPr>
        <p:spPr>
          <a:xfrm>
            <a:off x="14308250" y="2024197"/>
            <a:ext cx="3467505" cy="1791174"/>
          </a:xfrm>
          <a:custGeom>
            <a:avLst/>
            <a:gdLst/>
            <a:ahLst/>
            <a:cxnLst/>
            <a:rect l="l" t="t" r="r" b="b"/>
            <a:pathLst>
              <a:path w="3467505" h="1791174">
                <a:moveTo>
                  <a:pt x="0" y="0"/>
                </a:moveTo>
                <a:lnTo>
                  <a:pt x="3467504" y="0"/>
                </a:lnTo>
                <a:lnTo>
                  <a:pt x="3467504" y="1791175"/>
                </a:lnTo>
                <a:lnTo>
                  <a:pt x="0" y="17911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10466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25" name="Freeform 25"/>
          <p:cNvSpPr/>
          <p:nvPr/>
        </p:nvSpPr>
        <p:spPr>
          <a:xfrm>
            <a:off x="7007070" y="2194322"/>
            <a:ext cx="4002216" cy="519116"/>
          </a:xfrm>
          <a:custGeom>
            <a:avLst/>
            <a:gdLst/>
            <a:ahLst/>
            <a:cxnLst/>
            <a:rect l="l" t="t" r="r" b="b"/>
            <a:pathLst>
              <a:path w="4002216" h="519116">
                <a:moveTo>
                  <a:pt x="0" y="0"/>
                </a:moveTo>
                <a:lnTo>
                  <a:pt x="4002215" y="0"/>
                </a:lnTo>
                <a:lnTo>
                  <a:pt x="4002215" y="519116"/>
                </a:lnTo>
                <a:lnTo>
                  <a:pt x="0" y="5191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26" name="Freeform 26"/>
          <p:cNvSpPr/>
          <p:nvPr/>
        </p:nvSpPr>
        <p:spPr>
          <a:xfrm>
            <a:off x="8656132" y="4962525"/>
            <a:ext cx="5908319" cy="1772496"/>
          </a:xfrm>
          <a:custGeom>
            <a:avLst/>
            <a:gdLst/>
            <a:ahLst/>
            <a:cxnLst/>
            <a:rect l="l" t="t" r="r" b="b"/>
            <a:pathLst>
              <a:path w="5908319" h="1772496">
                <a:moveTo>
                  <a:pt x="0" y="0"/>
                </a:moveTo>
                <a:lnTo>
                  <a:pt x="5908320" y="0"/>
                </a:lnTo>
                <a:lnTo>
                  <a:pt x="5908320" y="1772496"/>
                </a:lnTo>
                <a:lnTo>
                  <a:pt x="0" y="17724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27" name="Freeform 27"/>
          <p:cNvSpPr/>
          <p:nvPr/>
        </p:nvSpPr>
        <p:spPr>
          <a:xfrm>
            <a:off x="15175025" y="4720201"/>
            <a:ext cx="1101916" cy="1101916"/>
          </a:xfrm>
          <a:custGeom>
            <a:avLst/>
            <a:gdLst/>
            <a:ahLst/>
            <a:cxnLst/>
            <a:rect l="l" t="t" r="r" b="b"/>
            <a:pathLst>
              <a:path w="1101916" h="1101916">
                <a:moveTo>
                  <a:pt x="0" y="0"/>
                </a:moveTo>
                <a:lnTo>
                  <a:pt x="1101916" y="0"/>
                </a:lnTo>
                <a:lnTo>
                  <a:pt x="1101916" y="1101916"/>
                </a:lnTo>
                <a:lnTo>
                  <a:pt x="0" y="110191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28" name="Freeform 28"/>
          <p:cNvSpPr/>
          <p:nvPr/>
        </p:nvSpPr>
        <p:spPr>
          <a:xfrm>
            <a:off x="8674587" y="7954379"/>
            <a:ext cx="1708885" cy="1708885"/>
          </a:xfrm>
          <a:custGeom>
            <a:avLst/>
            <a:gdLst/>
            <a:ahLst/>
            <a:cxnLst/>
            <a:rect l="l" t="t" r="r" b="b"/>
            <a:pathLst>
              <a:path w="1708885" h="1708885">
                <a:moveTo>
                  <a:pt x="0" y="0"/>
                </a:moveTo>
                <a:lnTo>
                  <a:pt x="1708885" y="0"/>
                </a:lnTo>
                <a:lnTo>
                  <a:pt x="1708885" y="1708885"/>
                </a:lnTo>
                <a:lnTo>
                  <a:pt x="0" y="170888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29" name="Freeform 29"/>
          <p:cNvSpPr/>
          <p:nvPr/>
        </p:nvSpPr>
        <p:spPr>
          <a:xfrm>
            <a:off x="604075" y="4738297"/>
            <a:ext cx="999816" cy="999816"/>
          </a:xfrm>
          <a:custGeom>
            <a:avLst/>
            <a:gdLst/>
            <a:ahLst/>
            <a:cxnLst/>
            <a:rect l="l" t="t" r="r" b="b"/>
            <a:pathLst>
              <a:path w="999816" h="999816">
                <a:moveTo>
                  <a:pt x="0" y="0"/>
                </a:moveTo>
                <a:lnTo>
                  <a:pt x="999816" y="0"/>
                </a:lnTo>
                <a:lnTo>
                  <a:pt x="999816" y="999816"/>
                </a:lnTo>
                <a:lnTo>
                  <a:pt x="0" y="99981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0" name="Freeform 30"/>
          <p:cNvSpPr/>
          <p:nvPr/>
        </p:nvSpPr>
        <p:spPr>
          <a:xfrm>
            <a:off x="569380" y="2252797"/>
            <a:ext cx="918641" cy="918641"/>
          </a:xfrm>
          <a:custGeom>
            <a:avLst/>
            <a:gdLst/>
            <a:ahLst/>
            <a:cxnLst/>
            <a:rect l="l" t="t" r="r" b="b"/>
            <a:pathLst>
              <a:path w="918641" h="918641">
                <a:moveTo>
                  <a:pt x="0" y="0"/>
                </a:moveTo>
                <a:lnTo>
                  <a:pt x="918640" y="0"/>
                </a:lnTo>
                <a:lnTo>
                  <a:pt x="918640" y="918641"/>
                </a:lnTo>
                <a:lnTo>
                  <a:pt x="0" y="91864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1" name="Group 31"/>
          <p:cNvGrpSpPr/>
          <p:nvPr/>
        </p:nvGrpSpPr>
        <p:grpSpPr>
          <a:xfrm>
            <a:off x="1357853" y="2252797"/>
            <a:ext cx="4419164" cy="1396019"/>
            <a:chOff x="0" y="0"/>
            <a:chExt cx="1121060" cy="35414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121060" cy="354144"/>
            </a:xfrm>
            <a:custGeom>
              <a:avLst/>
              <a:gdLst/>
              <a:ahLst/>
              <a:cxnLst/>
              <a:rect l="l" t="t" r="r" b="b"/>
              <a:pathLst>
                <a:path w="1121060" h="354144">
                  <a:moveTo>
                    <a:pt x="89347" y="0"/>
                  </a:moveTo>
                  <a:lnTo>
                    <a:pt x="1031713" y="0"/>
                  </a:lnTo>
                  <a:cubicBezTo>
                    <a:pt x="1081058" y="0"/>
                    <a:pt x="1121060" y="40002"/>
                    <a:pt x="1121060" y="89347"/>
                  </a:cubicBezTo>
                  <a:lnTo>
                    <a:pt x="1121060" y="264797"/>
                  </a:lnTo>
                  <a:cubicBezTo>
                    <a:pt x="1121060" y="314142"/>
                    <a:pt x="1081058" y="354144"/>
                    <a:pt x="1031713" y="354144"/>
                  </a:cubicBezTo>
                  <a:lnTo>
                    <a:pt x="89347" y="354144"/>
                  </a:lnTo>
                  <a:cubicBezTo>
                    <a:pt x="40002" y="354144"/>
                    <a:pt x="0" y="314142"/>
                    <a:pt x="0" y="264797"/>
                  </a:cubicBezTo>
                  <a:lnTo>
                    <a:pt x="0" y="89347"/>
                  </a:lnTo>
                  <a:cubicBezTo>
                    <a:pt x="0" y="40002"/>
                    <a:pt x="40002" y="0"/>
                    <a:pt x="89347" y="0"/>
                  </a:cubicBezTo>
                  <a:close/>
                </a:path>
              </a:pathLst>
            </a:custGeom>
            <a:solidFill>
              <a:srgbClr val="545454">
                <a:alpha val="40784"/>
              </a:srgbClr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1121060" cy="4017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34"/>
                </a:lnSpc>
              </a:pPr>
              <a:endParaRPr/>
            </a:p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34" name="Freeform 34"/>
          <p:cNvSpPr/>
          <p:nvPr/>
        </p:nvSpPr>
        <p:spPr>
          <a:xfrm>
            <a:off x="4128469" y="2414762"/>
            <a:ext cx="1604369" cy="938556"/>
          </a:xfrm>
          <a:custGeom>
            <a:avLst/>
            <a:gdLst/>
            <a:ahLst/>
            <a:cxnLst/>
            <a:rect l="l" t="t" r="r" b="b"/>
            <a:pathLst>
              <a:path w="1604369" h="938556">
                <a:moveTo>
                  <a:pt x="0" y="0"/>
                </a:moveTo>
                <a:lnTo>
                  <a:pt x="1604369" y="0"/>
                </a:lnTo>
                <a:lnTo>
                  <a:pt x="1604369" y="938555"/>
                </a:lnTo>
                <a:lnTo>
                  <a:pt x="0" y="93855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5" name="Group 35"/>
          <p:cNvGrpSpPr/>
          <p:nvPr/>
        </p:nvGrpSpPr>
        <p:grpSpPr>
          <a:xfrm>
            <a:off x="1979081" y="5257427"/>
            <a:ext cx="3634762" cy="1527248"/>
            <a:chOff x="0" y="0"/>
            <a:chExt cx="922072" cy="38743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22072" cy="387434"/>
            </a:xfrm>
            <a:custGeom>
              <a:avLst/>
              <a:gdLst/>
              <a:ahLst/>
              <a:cxnLst/>
              <a:rect l="l" t="t" r="r" b="b"/>
              <a:pathLst>
                <a:path w="922072" h="387434">
                  <a:moveTo>
                    <a:pt x="108628" y="0"/>
                  </a:moveTo>
                  <a:lnTo>
                    <a:pt x="813443" y="0"/>
                  </a:lnTo>
                  <a:cubicBezTo>
                    <a:pt x="842253" y="0"/>
                    <a:pt x="869884" y="11445"/>
                    <a:pt x="890255" y="31816"/>
                  </a:cubicBezTo>
                  <a:cubicBezTo>
                    <a:pt x="910627" y="52188"/>
                    <a:pt x="922072" y="79818"/>
                    <a:pt x="922072" y="108628"/>
                  </a:cubicBezTo>
                  <a:lnTo>
                    <a:pt x="922072" y="278806"/>
                  </a:lnTo>
                  <a:cubicBezTo>
                    <a:pt x="922072" y="307616"/>
                    <a:pt x="910627" y="335246"/>
                    <a:pt x="890255" y="355618"/>
                  </a:cubicBezTo>
                  <a:cubicBezTo>
                    <a:pt x="869884" y="375990"/>
                    <a:pt x="842253" y="387434"/>
                    <a:pt x="813443" y="387434"/>
                  </a:cubicBezTo>
                  <a:lnTo>
                    <a:pt x="108628" y="387434"/>
                  </a:lnTo>
                  <a:cubicBezTo>
                    <a:pt x="48635" y="387434"/>
                    <a:pt x="0" y="338800"/>
                    <a:pt x="0" y="278806"/>
                  </a:cubicBezTo>
                  <a:lnTo>
                    <a:pt x="0" y="108628"/>
                  </a:lnTo>
                  <a:cubicBezTo>
                    <a:pt x="0" y="79818"/>
                    <a:pt x="11445" y="52188"/>
                    <a:pt x="31816" y="31816"/>
                  </a:cubicBezTo>
                  <a:cubicBezTo>
                    <a:pt x="52188" y="11445"/>
                    <a:pt x="79818" y="0"/>
                    <a:pt x="108628" y="0"/>
                  </a:cubicBezTo>
                  <a:close/>
                </a:path>
              </a:pathLst>
            </a:custGeom>
            <a:solidFill>
              <a:srgbClr val="545454">
                <a:alpha val="40784"/>
              </a:srgbClr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922072" cy="4350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34"/>
                </a:lnSpc>
              </a:pPr>
              <a:endParaRPr/>
            </a:p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38" name="Freeform 38"/>
          <p:cNvSpPr/>
          <p:nvPr/>
        </p:nvSpPr>
        <p:spPr>
          <a:xfrm>
            <a:off x="2580296" y="5294294"/>
            <a:ext cx="2130736" cy="768565"/>
          </a:xfrm>
          <a:custGeom>
            <a:avLst/>
            <a:gdLst/>
            <a:ahLst/>
            <a:cxnLst/>
            <a:rect l="l" t="t" r="r" b="b"/>
            <a:pathLst>
              <a:path w="2130736" h="768565">
                <a:moveTo>
                  <a:pt x="0" y="0"/>
                </a:moveTo>
                <a:lnTo>
                  <a:pt x="2130737" y="0"/>
                </a:lnTo>
                <a:lnTo>
                  <a:pt x="2130737" y="768565"/>
                </a:lnTo>
                <a:lnTo>
                  <a:pt x="0" y="76856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9" name="Group 39"/>
          <p:cNvGrpSpPr/>
          <p:nvPr/>
        </p:nvGrpSpPr>
        <p:grpSpPr>
          <a:xfrm>
            <a:off x="1249495" y="8186099"/>
            <a:ext cx="3168691" cy="1617633"/>
            <a:chOff x="0" y="0"/>
            <a:chExt cx="803838" cy="41036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03838" cy="410364"/>
            </a:xfrm>
            <a:custGeom>
              <a:avLst/>
              <a:gdLst/>
              <a:ahLst/>
              <a:cxnLst/>
              <a:rect l="l" t="t" r="r" b="b"/>
              <a:pathLst>
                <a:path w="803838" h="410364">
                  <a:moveTo>
                    <a:pt x="124606" y="0"/>
                  </a:moveTo>
                  <a:lnTo>
                    <a:pt x="679232" y="0"/>
                  </a:lnTo>
                  <a:cubicBezTo>
                    <a:pt x="748050" y="0"/>
                    <a:pt x="803838" y="55788"/>
                    <a:pt x="803838" y="124606"/>
                  </a:cubicBezTo>
                  <a:lnTo>
                    <a:pt x="803838" y="285758"/>
                  </a:lnTo>
                  <a:cubicBezTo>
                    <a:pt x="803838" y="354576"/>
                    <a:pt x="748050" y="410364"/>
                    <a:pt x="679232" y="410364"/>
                  </a:cubicBezTo>
                  <a:lnTo>
                    <a:pt x="124606" y="410364"/>
                  </a:lnTo>
                  <a:cubicBezTo>
                    <a:pt x="55788" y="410364"/>
                    <a:pt x="0" y="354576"/>
                    <a:pt x="0" y="285758"/>
                  </a:cubicBezTo>
                  <a:lnTo>
                    <a:pt x="0" y="124606"/>
                  </a:lnTo>
                  <a:cubicBezTo>
                    <a:pt x="0" y="55788"/>
                    <a:pt x="55788" y="0"/>
                    <a:pt x="124606" y="0"/>
                  </a:cubicBezTo>
                  <a:close/>
                </a:path>
              </a:pathLst>
            </a:custGeom>
            <a:solidFill>
              <a:srgbClr val="E2A9F1">
                <a:alpha val="40784"/>
              </a:srgbClr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47625"/>
              <a:ext cx="803838" cy="4579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34"/>
                </a:lnSpc>
              </a:pPr>
              <a:endParaRPr/>
            </a:p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42" name="Freeform 42"/>
          <p:cNvSpPr/>
          <p:nvPr/>
        </p:nvSpPr>
        <p:spPr>
          <a:xfrm>
            <a:off x="1357853" y="7762366"/>
            <a:ext cx="1351840" cy="511241"/>
          </a:xfrm>
          <a:custGeom>
            <a:avLst/>
            <a:gdLst/>
            <a:ahLst/>
            <a:cxnLst/>
            <a:rect l="l" t="t" r="r" b="b"/>
            <a:pathLst>
              <a:path w="1351840" h="511241">
                <a:moveTo>
                  <a:pt x="0" y="0"/>
                </a:moveTo>
                <a:lnTo>
                  <a:pt x="1351840" y="0"/>
                </a:lnTo>
                <a:lnTo>
                  <a:pt x="1351840" y="511242"/>
                </a:lnTo>
                <a:lnTo>
                  <a:pt x="0" y="51124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43" name="Freeform 43"/>
          <p:cNvSpPr/>
          <p:nvPr/>
        </p:nvSpPr>
        <p:spPr>
          <a:xfrm rot="-341103">
            <a:off x="1861337" y="8146543"/>
            <a:ext cx="1744372" cy="600014"/>
          </a:xfrm>
          <a:custGeom>
            <a:avLst/>
            <a:gdLst/>
            <a:ahLst/>
            <a:cxnLst/>
            <a:rect l="l" t="t" r="r" b="b"/>
            <a:pathLst>
              <a:path w="1744372" h="600014">
                <a:moveTo>
                  <a:pt x="0" y="0"/>
                </a:moveTo>
                <a:lnTo>
                  <a:pt x="1744371" y="0"/>
                </a:lnTo>
                <a:lnTo>
                  <a:pt x="1744371" y="600015"/>
                </a:lnTo>
                <a:lnTo>
                  <a:pt x="0" y="60001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44" name="TextBox 44"/>
          <p:cNvSpPr txBox="1"/>
          <p:nvPr/>
        </p:nvSpPr>
        <p:spPr>
          <a:xfrm>
            <a:off x="10677617" y="7696025"/>
            <a:ext cx="3514368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Capa de datos: BaaS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371528" y="4448175"/>
            <a:ext cx="3396853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ETL Near-Real-Time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830917" y="4629150"/>
            <a:ext cx="1674283" cy="481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Backend</a:t>
            </a:r>
          </a:p>
        </p:txBody>
      </p:sp>
      <p:sp>
        <p:nvSpPr>
          <p:cNvPr id="47" name="Freeform 47"/>
          <p:cNvSpPr/>
          <p:nvPr/>
        </p:nvSpPr>
        <p:spPr>
          <a:xfrm>
            <a:off x="4761820" y="5377926"/>
            <a:ext cx="597428" cy="597428"/>
          </a:xfrm>
          <a:custGeom>
            <a:avLst/>
            <a:gdLst/>
            <a:ahLst/>
            <a:cxnLst/>
            <a:rect l="l" t="t" r="r" b="b"/>
            <a:pathLst>
              <a:path w="597428" h="597428">
                <a:moveTo>
                  <a:pt x="0" y="0"/>
                </a:moveTo>
                <a:lnTo>
                  <a:pt x="597428" y="0"/>
                </a:lnTo>
                <a:lnTo>
                  <a:pt x="597428" y="597428"/>
                </a:lnTo>
                <a:lnTo>
                  <a:pt x="0" y="59742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48" name="Group 48"/>
          <p:cNvGrpSpPr/>
          <p:nvPr/>
        </p:nvGrpSpPr>
        <p:grpSpPr>
          <a:xfrm>
            <a:off x="9929039" y="6851350"/>
            <a:ext cx="6178462" cy="712562"/>
            <a:chOff x="0" y="0"/>
            <a:chExt cx="1627249" cy="187671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627249" cy="187671"/>
            </a:xfrm>
            <a:custGeom>
              <a:avLst/>
              <a:gdLst/>
              <a:ahLst/>
              <a:cxnLst/>
              <a:rect l="l" t="t" r="r" b="b"/>
              <a:pathLst>
                <a:path w="1627249" h="187671">
                  <a:moveTo>
                    <a:pt x="63906" y="0"/>
                  </a:moveTo>
                  <a:lnTo>
                    <a:pt x="1563344" y="0"/>
                  </a:lnTo>
                  <a:cubicBezTo>
                    <a:pt x="1598638" y="0"/>
                    <a:pt x="1627249" y="28611"/>
                    <a:pt x="1627249" y="63906"/>
                  </a:cubicBezTo>
                  <a:lnTo>
                    <a:pt x="1627249" y="123765"/>
                  </a:lnTo>
                  <a:cubicBezTo>
                    <a:pt x="1627249" y="140714"/>
                    <a:pt x="1620516" y="156969"/>
                    <a:pt x="1608532" y="168953"/>
                  </a:cubicBezTo>
                  <a:cubicBezTo>
                    <a:pt x="1596547" y="180938"/>
                    <a:pt x="1580293" y="187671"/>
                    <a:pt x="1563344" y="187671"/>
                  </a:cubicBezTo>
                  <a:lnTo>
                    <a:pt x="63906" y="187671"/>
                  </a:lnTo>
                  <a:cubicBezTo>
                    <a:pt x="46957" y="187671"/>
                    <a:pt x="30702" y="180938"/>
                    <a:pt x="18717" y="168953"/>
                  </a:cubicBezTo>
                  <a:cubicBezTo>
                    <a:pt x="6733" y="156969"/>
                    <a:pt x="0" y="140714"/>
                    <a:pt x="0" y="123765"/>
                  </a:cubicBezTo>
                  <a:lnTo>
                    <a:pt x="0" y="63906"/>
                  </a:lnTo>
                  <a:cubicBezTo>
                    <a:pt x="0" y="46957"/>
                    <a:pt x="6733" y="30702"/>
                    <a:pt x="18717" y="18717"/>
                  </a:cubicBezTo>
                  <a:cubicBezTo>
                    <a:pt x="30702" y="6733"/>
                    <a:pt x="46957" y="0"/>
                    <a:pt x="63906" y="0"/>
                  </a:cubicBezTo>
                  <a:close/>
                </a:path>
              </a:pathLst>
            </a:custGeom>
            <a:solidFill>
              <a:srgbClr val="7DC7E5">
                <a:alpha val="60784"/>
              </a:srgbClr>
            </a:solidFill>
            <a:ln w="38100" cap="rnd">
              <a:solidFill>
                <a:srgbClr val="000000">
                  <a:alpha val="60784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47625"/>
              <a:ext cx="1627249" cy="2352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34"/>
                </a:lnSpc>
              </a:pPr>
              <a:endParaRPr/>
            </a:p>
          </p:txBody>
        </p:sp>
      </p:grpSp>
      <p:sp>
        <p:nvSpPr>
          <p:cNvPr id="51" name="Freeform 51"/>
          <p:cNvSpPr/>
          <p:nvPr/>
        </p:nvSpPr>
        <p:spPr>
          <a:xfrm>
            <a:off x="12912360" y="7258510"/>
            <a:ext cx="0" cy="523488"/>
          </a:xfrm>
          <a:custGeom>
            <a:avLst/>
            <a:gdLst/>
            <a:ahLst/>
            <a:cxnLst/>
            <a:rect l="l" t="t" r="r" b="b"/>
            <a:pathLst>
              <a:path h="523488">
                <a:moveTo>
                  <a:pt x="0" y="0"/>
                </a:moveTo>
                <a:lnTo>
                  <a:pt x="0" y="523488"/>
                </a:lnTo>
              </a:path>
            </a:pathLst>
          </a:custGeom>
          <a:ln w="3810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s-CO"/>
          </a:p>
        </p:txBody>
      </p:sp>
      <p:sp>
        <p:nvSpPr>
          <p:cNvPr id="52" name="Freeform 52"/>
          <p:cNvSpPr/>
          <p:nvPr/>
        </p:nvSpPr>
        <p:spPr>
          <a:xfrm flipH="1">
            <a:off x="10908104" y="7381429"/>
            <a:ext cx="45719" cy="320992"/>
          </a:xfrm>
          <a:custGeom>
            <a:avLst/>
            <a:gdLst/>
            <a:ahLst/>
            <a:cxnLst/>
            <a:rect l="l" t="t" r="r" b="b"/>
            <a:pathLst>
              <a:path h="523488">
                <a:moveTo>
                  <a:pt x="0" y="0"/>
                </a:moveTo>
                <a:lnTo>
                  <a:pt x="0" y="523488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s-CO"/>
          </a:p>
        </p:txBody>
      </p:sp>
      <p:sp>
        <p:nvSpPr>
          <p:cNvPr id="53" name="Freeform 53"/>
          <p:cNvSpPr/>
          <p:nvPr/>
        </p:nvSpPr>
        <p:spPr>
          <a:xfrm>
            <a:off x="5442540" y="6669163"/>
            <a:ext cx="2857724" cy="2258467"/>
          </a:xfrm>
          <a:custGeom>
            <a:avLst/>
            <a:gdLst/>
            <a:ahLst/>
            <a:cxnLst/>
            <a:rect l="l" t="t" r="r" b="b"/>
            <a:pathLst>
              <a:path w="2857724" h="2258467">
                <a:moveTo>
                  <a:pt x="0" y="0"/>
                </a:moveTo>
                <a:lnTo>
                  <a:pt x="114300" y="0"/>
                </a:lnTo>
                <a:cubicBezTo>
                  <a:pt x="177426" y="0"/>
                  <a:pt x="228600" y="51173"/>
                  <a:pt x="228600" y="114300"/>
                </a:cubicBezTo>
                <a:lnTo>
                  <a:pt x="228600" y="1211921"/>
                </a:lnTo>
                <a:cubicBezTo>
                  <a:pt x="228600" y="1338173"/>
                  <a:pt x="330948" y="1440521"/>
                  <a:pt x="457200" y="1440521"/>
                </a:cubicBezTo>
                <a:lnTo>
                  <a:pt x="2014453" y="1440521"/>
                </a:lnTo>
                <a:cubicBezTo>
                  <a:pt x="2140705" y="1440521"/>
                  <a:pt x="2243053" y="1542869"/>
                  <a:pt x="2243053" y="1669121"/>
                </a:cubicBezTo>
                <a:lnTo>
                  <a:pt x="2243053" y="2029866"/>
                </a:lnTo>
                <a:cubicBezTo>
                  <a:pt x="2243053" y="2156118"/>
                  <a:pt x="2345401" y="2258466"/>
                  <a:pt x="2471653" y="2258466"/>
                </a:cubicBezTo>
                <a:lnTo>
                  <a:pt x="2857724" y="2258466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s-CO"/>
          </a:p>
        </p:txBody>
      </p:sp>
      <p:sp>
        <p:nvSpPr>
          <p:cNvPr id="54" name="Freeform 54"/>
          <p:cNvSpPr/>
          <p:nvPr/>
        </p:nvSpPr>
        <p:spPr>
          <a:xfrm>
            <a:off x="9815268" y="3927221"/>
            <a:ext cx="556259" cy="790194"/>
          </a:xfrm>
          <a:custGeom>
            <a:avLst/>
            <a:gdLst/>
            <a:ahLst/>
            <a:cxnLst/>
            <a:rect l="l" t="t" r="r" b="b"/>
            <a:pathLst>
              <a:path w="556259" h="790194">
                <a:moveTo>
                  <a:pt x="0" y="0"/>
                </a:moveTo>
                <a:lnTo>
                  <a:pt x="0" y="561594"/>
                </a:lnTo>
                <a:cubicBezTo>
                  <a:pt x="0" y="622222"/>
                  <a:pt x="24085" y="680368"/>
                  <a:pt x="66956" y="723239"/>
                </a:cubicBezTo>
                <a:cubicBezTo>
                  <a:pt x="109826" y="766109"/>
                  <a:pt x="167971" y="790194"/>
                  <a:pt x="228600" y="790194"/>
                </a:cubicBezTo>
                <a:lnTo>
                  <a:pt x="556259" y="790194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s-CO"/>
          </a:p>
        </p:txBody>
      </p:sp>
      <p:sp>
        <p:nvSpPr>
          <p:cNvPr id="55" name="Freeform 55"/>
          <p:cNvSpPr/>
          <p:nvPr/>
        </p:nvSpPr>
        <p:spPr>
          <a:xfrm>
            <a:off x="12450987" y="3242991"/>
            <a:ext cx="1085624" cy="1262334"/>
          </a:xfrm>
          <a:custGeom>
            <a:avLst/>
            <a:gdLst/>
            <a:ahLst/>
            <a:cxnLst/>
            <a:rect l="l" t="t" r="r" b="b"/>
            <a:pathLst>
              <a:path w="1085624" h="1262334">
                <a:moveTo>
                  <a:pt x="1085624" y="0"/>
                </a:moveTo>
                <a:lnTo>
                  <a:pt x="1085624" y="842559"/>
                </a:lnTo>
                <a:cubicBezTo>
                  <a:pt x="1085624" y="903187"/>
                  <a:pt x="1061540" y="961333"/>
                  <a:pt x="1018668" y="1004204"/>
                </a:cubicBezTo>
                <a:cubicBezTo>
                  <a:pt x="975798" y="1047074"/>
                  <a:pt x="917653" y="1071159"/>
                  <a:pt x="857024" y="1071159"/>
                </a:cubicBezTo>
                <a:lnTo>
                  <a:pt x="95587" y="1071159"/>
                </a:lnTo>
                <a:cubicBezTo>
                  <a:pt x="70236" y="1071159"/>
                  <a:pt x="45922" y="1081230"/>
                  <a:pt x="27996" y="1099156"/>
                </a:cubicBezTo>
                <a:cubicBezTo>
                  <a:pt x="10070" y="1117082"/>
                  <a:pt x="0" y="1141395"/>
                  <a:pt x="0" y="1166746"/>
                </a:cubicBezTo>
                <a:lnTo>
                  <a:pt x="0" y="1262334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s-CO"/>
          </a:p>
        </p:txBody>
      </p:sp>
      <p:sp>
        <p:nvSpPr>
          <p:cNvPr id="56" name="Freeform 56"/>
          <p:cNvSpPr/>
          <p:nvPr/>
        </p:nvSpPr>
        <p:spPr>
          <a:xfrm>
            <a:off x="13768381" y="3815372"/>
            <a:ext cx="2273621" cy="902043"/>
          </a:xfrm>
          <a:custGeom>
            <a:avLst/>
            <a:gdLst/>
            <a:ahLst/>
            <a:cxnLst/>
            <a:rect l="l" t="t" r="r" b="b"/>
            <a:pathLst>
              <a:path w="2273621" h="902043">
                <a:moveTo>
                  <a:pt x="2273621" y="0"/>
                </a:moveTo>
                <a:lnTo>
                  <a:pt x="2273621" y="270178"/>
                </a:lnTo>
                <a:cubicBezTo>
                  <a:pt x="2273621" y="330806"/>
                  <a:pt x="2249537" y="388952"/>
                  <a:pt x="2206666" y="431823"/>
                </a:cubicBezTo>
                <a:cubicBezTo>
                  <a:pt x="2163795" y="474693"/>
                  <a:pt x="2105650" y="498778"/>
                  <a:pt x="2045021" y="498778"/>
                </a:cubicBezTo>
                <a:lnTo>
                  <a:pt x="528757" y="498778"/>
                </a:lnTo>
                <a:cubicBezTo>
                  <a:pt x="417398" y="498778"/>
                  <a:pt x="327125" y="589052"/>
                  <a:pt x="327125" y="700411"/>
                </a:cubicBezTo>
                <a:lnTo>
                  <a:pt x="327125" y="738481"/>
                </a:lnTo>
                <a:cubicBezTo>
                  <a:pt x="327125" y="828814"/>
                  <a:pt x="253895" y="902043"/>
                  <a:pt x="163562" y="902043"/>
                </a:cubicBezTo>
                <a:lnTo>
                  <a:pt x="0" y="902043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s-CO"/>
          </a:p>
        </p:txBody>
      </p:sp>
      <p:sp>
        <p:nvSpPr>
          <p:cNvPr id="57" name="Freeform 57"/>
          <p:cNvSpPr/>
          <p:nvPr/>
        </p:nvSpPr>
        <p:spPr>
          <a:xfrm>
            <a:off x="5793519" y="7481885"/>
            <a:ext cx="2583718" cy="542581"/>
          </a:xfrm>
          <a:custGeom>
            <a:avLst/>
            <a:gdLst/>
            <a:ahLst/>
            <a:cxnLst/>
            <a:rect l="l" t="t" r="r" b="b"/>
            <a:pathLst>
              <a:path w="2583718" h="542581">
                <a:moveTo>
                  <a:pt x="0" y="0"/>
                </a:moveTo>
                <a:lnTo>
                  <a:pt x="2583719" y="0"/>
                </a:lnTo>
                <a:lnTo>
                  <a:pt x="2583719" y="542581"/>
                </a:lnTo>
                <a:lnTo>
                  <a:pt x="0" y="54258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58" name="Freeform 58"/>
          <p:cNvSpPr/>
          <p:nvPr/>
        </p:nvSpPr>
        <p:spPr>
          <a:xfrm>
            <a:off x="2833841" y="6784675"/>
            <a:ext cx="962621" cy="1401425"/>
          </a:xfrm>
          <a:custGeom>
            <a:avLst/>
            <a:gdLst/>
            <a:ahLst/>
            <a:cxnLst/>
            <a:rect l="l" t="t" r="r" b="b"/>
            <a:pathLst>
              <a:path w="962621" h="1401425">
                <a:moveTo>
                  <a:pt x="962621" y="0"/>
                </a:moveTo>
                <a:lnTo>
                  <a:pt x="962621" y="472112"/>
                </a:lnTo>
                <a:cubicBezTo>
                  <a:pt x="962621" y="598364"/>
                  <a:pt x="860273" y="700712"/>
                  <a:pt x="734021" y="700712"/>
                </a:cubicBezTo>
                <a:lnTo>
                  <a:pt x="228600" y="700712"/>
                </a:lnTo>
                <a:cubicBezTo>
                  <a:pt x="167971" y="700712"/>
                  <a:pt x="109826" y="724797"/>
                  <a:pt x="66955" y="767668"/>
                </a:cubicBezTo>
                <a:cubicBezTo>
                  <a:pt x="24084" y="810538"/>
                  <a:pt x="0" y="868683"/>
                  <a:pt x="0" y="929312"/>
                </a:cubicBezTo>
                <a:lnTo>
                  <a:pt x="0" y="1401425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triangle" w="lg" len="med"/>
            <a:tailEnd type="arrow" w="med" len="sm"/>
          </a:ln>
        </p:spPr>
        <p:txBody>
          <a:bodyPr/>
          <a:lstStyle/>
          <a:p>
            <a:endParaRPr lang="es-CO"/>
          </a:p>
        </p:txBody>
      </p:sp>
      <p:sp>
        <p:nvSpPr>
          <p:cNvPr id="59" name="Freeform 59"/>
          <p:cNvSpPr/>
          <p:nvPr/>
        </p:nvSpPr>
        <p:spPr>
          <a:xfrm>
            <a:off x="3369047" y="3648817"/>
            <a:ext cx="427415" cy="1608611"/>
          </a:xfrm>
          <a:custGeom>
            <a:avLst/>
            <a:gdLst/>
            <a:ahLst/>
            <a:cxnLst/>
            <a:rect l="l" t="t" r="r" b="b"/>
            <a:pathLst>
              <a:path w="427415" h="1608611">
                <a:moveTo>
                  <a:pt x="0" y="0"/>
                </a:moveTo>
                <a:lnTo>
                  <a:pt x="0" y="590598"/>
                </a:lnTo>
                <a:cubicBezTo>
                  <a:pt x="0" y="647277"/>
                  <a:pt x="22516" y="701634"/>
                  <a:pt x="62594" y="741712"/>
                </a:cubicBezTo>
                <a:cubicBezTo>
                  <a:pt x="102671" y="781790"/>
                  <a:pt x="157029" y="804305"/>
                  <a:pt x="213708" y="804305"/>
                </a:cubicBezTo>
                <a:lnTo>
                  <a:pt x="213708" y="804305"/>
                </a:lnTo>
                <a:cubicBezTo>
                  <a:pt x="270386" y="804305"/>
                  <a:pt x="324744" y="826821"/>
                  <a:pt x="364822" y="866899"/>
                </a:cubicBezTo>
                <a:cubicBezTo>
                  <a:pt x="404899" y="906977"/>
                  <a:pt x="427415" y="961334"/>
                  <a:pt x="427415" y="1018013"/>
                </a:cubicBezTo>
                <a:lnTo>
                  <a:pt x="427415" y="1608611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s-CO"/>
          </a:p>
        </p:txBody>
      </p:sp>
      <p:sp>
        <p:nvSpPr>
          <p:cNvPr id="60" name="TextBox 60"/>
          <p:cNvSpPr txBox="1"/>
          <p:nvPr/>
        </p:nvSpPr>
        <p:spPr>
          <a:xfrm>
            <a:off x="666750" y="528003"/>
            <a:ext cx="15516225" cy="1077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59"/>
              </a:lnSpc>
            </a:pPr>
            <a:r>
              <a:rPr lang="en-US" sz="7599" b="1" spc="-189">
                <a:solidFill>
                  <a:srgbClr val="0032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Arquitectura en producción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788800" y="5992476"/>
            <a:ext cx="1580176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EXTRACT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0902907" y="5627544"/>
            <a:ext cx="1414769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TRANSFORM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3083222" y="5281732"/>
            <a:ext cx="1225028" cy="54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PREDICT (XGBOOST)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9131147" y="1696365"/>
            <a:ext cx="5280877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Fuentes de </a:t>
            </a:r>
            <a:r>
              <a:rPr lang="en-US" sz="280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datos</a:t>
            </a:r>
            <a:r>
              <a:rPr lang="en-US" sz="28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abiertas</a:t>
            </a:r>
            <a:endParaRPr lang="en-US" sz="28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65" name="TextBox 65"/>
          <p:cNvSpPr txBox="1"/>
          <p:nvPr/>
        </p:nvSpPr>
        <p:spPr>
          <a:xfrm>
            <a:off x="11045138" y="8678509"/>
            <a:ext cx="2491473" cy="619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64"/>
              </a:lnSpc>
            </a:pPr>
            <a:r>
              <a:rPr lang="en-US" sz="176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PostgreSQL + </a:t>
            </a:r>
            <a:r>
              <a:rPr lang="en-US" sz="176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PostGIS</a:t>
            </a:r>
            <a:endParaRPr lang="en-US" sz="176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2464"/>
              </a:lnSpc>
            </a:pPr>
            <a:r>
              <a:rPr lang="en-US" sz="176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fact_riesgo_territorial</a:t>
            </a:r>
            <a:endParaRPr lang="en-US" sz="176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66" name="TextBox 66"/>
          <p:cNvSpPr txBox="1"/>
          <p:nvPr/>
        </p:nvSpPr>
        <p:spPr>
          <a:xfrm>
            <a:off x="2010469" y="5992476"/>
            <a:ext cx="3571986" cy="559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5"/>
              </a:lnSpc>
              <a:spcBef>
                <a:spcPct val="0"/>
              </a:spcBef>
            </a:pPr>
            <a:r>
              <a:rPr lang="en-US" sz="1661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12 Endpoints REST</a:t>
            </a:r>
          </a:p>
          <a:p>
            <a:pPr algn="ctr">
              <a:lnSpc>
                <a:spcPts val="2325"/>
              </a:lnSpc>
              <a:spcBef>
                <a:spcPct val="0"/>
              </a:spcBef>
            </a:pPr>
            <a:r>
              <a:rPr lang="en-US" sz="1661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vitalriskia.onrender.com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028700" y="8802906"/>
            <a:ext cx="3571986" cy="846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5"/>
              </a:lnSpc>
            </a:pPr>
            <a:r>
              <a:rPr lang="en-US" sz="1661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XGBoost .pkl + SHAP TreeExplainer</a:t>
            </a:r>
          </a:p>
          <a:p>
            <a:pPr algn="ctr">
              <a:lnSpc>
                <a:spcPts val="2325"/>
              </a:lnSpc>
              <a:spcBef>
                <a:spcPct val="0"/>
              </a:spcBef>
            </a:pPr>
            <a:r>
              <a:rPr lang="en-US" sz="166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12 features seleccionadas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3104530" y="1738447"/>
            <a:ext cx="1744996" cy="481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Frontend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585391" y="2386187"/>
            <a:ext cx="3176430" cy="113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5"/>
              </a:lnSpc>
            </a:pPr>
            <a:r>
              <a:rPr lang="en-US" sz="1661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 vistas + Folium Web-GIS Dashboard</a:t>
            </a:r>
          </a:p>
          <a:p>
            <a:pPr algn="ctr">
              <a:lnSpc>
                <a:spcPts val="2325"/>
              </a:lnSpc>
              <a:spcBef>
                <a:spcPct val="0"/>
              </a:spcBef>
            </a:pPr>
            <a:r>
              <a:rPr lang="en-US" sz="1661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vitalriskia-frontend.onrender.com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4308250" y="7058871"/>
            <a:ext cx="1225028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LOAD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7135514" y="5444546"/>
            <a:ext cx="1378331" cy="1224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4"/>
              </a:lnSpc>
            </a:pPr>
            <a:r>
              <a:rPr lang="en-US" sz="176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134 mil registros • 103 municipios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666750" y="1821251"/>
            <a:ext cx="2167091" cy="3810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34"/>
              </a:lnSpc>
              <a:spcBef>
                <a:spcPct val="0"/>
              </a:spcBef>
            </a:pPr>
            <a:r>
              <a:rPr lang="en-US" sz="2310" b="1" dirty="0">
                <a:solidFill>
                  <a:srgbClr val="B4B4B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Presentación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4418186" y="8995632"/>
            <a:ext cx="1869603" cy="808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4"/>
              </a:lnSpc>
              <a:spcBef>
                <a:spcPct val="0"/>
              </a:spcBef>
            </a:pPr>
            <a:r>
              <a:rPr lang="en-US" sz="2310" b="1">
                <a:solidFill>
                  <a:srgbClr val="B4B4B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Servicios e IA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3797976" y="6003156"/>
            <a:ext cx="3117864" cy="605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6"/>
              </a:lnSpc>
            </a:pPr>
            <a:r>
              <a:rPr lang="en-US" sz="2310" b="1">
                <a:solidFill>
                  <a:srgbClr val="B4B4B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Integración y procesamiento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2226940" y="9495052"/>
            <a:ext cx="2341228" cy="3810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34"/>
              </a:lnSpc>
              <a:spcBef>
                <a:spcPct val="0"/>
              </a:spcBef>
            </a:pPr>
            <a:r>
              <a:rPr lang="en-US" sz="2310" b="1" dirty="0" err="1">
                <a:solidFill>
                  <a:srgbClr val="B4B4B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Persistencia</a:t>
            </a:r>
            <a:endParaRPr lang="en-US" sz="2310" b="1" dirty="0">
              <a:solidFill>
                <a:srgbClr val="B4B4B4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76" name="TextBox 76"/>
          <p:cNvSpPr txBox="1"/>
          <p:nvPr/>
        </p:nvSpPr>
        <p:spPr>
          <a:xfrm>
            <a:off x="14953919" y="1721927"/>
            <a:ext cx="2752966" cy="3810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34"/>
              </a:lnSpc>
              <a:spcBef>
                <a:spcPct val="0"/>
              </a:spcBef>
            </a:pPr>
            <a:r>
              <a:rPr lang="en-US" sz="2310" b="1" dirty="0">
                <a:solidFill>
                  <a:srgbClr val="B4B4B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Origen de </a:t>
            </a:r>
            <a:r>
              <a:rPr lang="en-US" sz="2310" b="1" dirty="0" err="1">
                <a:solidFill>
                  <a:srgbClr val="B4B4B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datos</a:t>
            </a:r>
            <a:endParaRPr lang="en-US" sz="2310" b="1" dirty="0">
              <a:solidFill>
                <a:srgbClr val="B4B4B4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7766F963-AB38-C49D-780F-4C60C3C882B4}"/>
              </a:ext>
            </a:extLst>
          </p:cNvPr>
          <p:cNvSpPr txBox="1"/>
          <p:nvPr/>
        </p:nvSpPr>
        <p:spPr>
          <a:xfrm>
            <a:off x="9365705" y="4197548"/>
            <a:ext cx="1003271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s-CO" sz="1400" b="1" i="0" dirty="0">
                <a:effectLst/>
              </a:rPr>
              <a:t>REST/JSON</a:t>
            </a:r>
            <a:endParaRPr lang="es-CO" sz="1400" dirty="0"/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742A12DF-9660-E9C6-B232-982CA34D8F55}"/>
              </a:ext>
            </a:extLst>
          </p:cNvPr>
          <p:cNvSpPr txBox="1"/>
          <p:nvPr/>
        </p:nvSpPr>
        <p:spPr>
          <a:xfrm>
            <a:off x="12794602" y="3737944"/>
            <a:ext cx="1715789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s-CO" b="1" i="0" dirty="0">
                <a:effectLst/>
              </a:rPr>
              <a:t>XLSX/</a:t>
            </a:r>
            <a:r>
              <a:rPr lang="es-CO" b="1" i="0" dirty="0" err="1">
                <a:effectLst/>
              </a:rPr>
              <a:t>GeoJSON</a:t>
            </a:r>
            <a:endParaRPr lang="es-CO" dirty="0"/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4E9EB3DD-56C9-850F-EA18-ACD58F07BBAC}"/>
              </a:ext>
            </a:extLst>
          </p:cNvPr>
          <p:cNvSpPr txBox="1"/>
          <p:nvPr/>
        </p:nvSpPr>
        <p:spPr>
          <a:xfrm>
            <a:off x="14810975" y="4197548"/>
            <a:ext cx="722303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s-CO" sz="1400" b="1" i="0" dirty="0">
                <a:effectLst/>
              </a:rPr>
              <a:t>XLSX</a:t>
            </a:r>
            <a:endParaRPr lang="es-CO" sz="1400" dirty="0"/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A7E9C442-64CE-5B1B-2A33-8BE57A3B53D2}"/>
              </a:ext>
            </a:extLst>
          </p:cNvPr>
          <p:cNvSpPr txBox="1"/>
          <p:nvPr/>
        </p:nvSpPr>
        <p:spPr>
          <a:xfrm>
            <a:off x="10081672" y="6902923"/>
            <a:ext cx="2090979" cy="534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s-CO" b="1" i="0" dirty="0">
                <a:effectLst/>
                <a:latin typeface="YAFdJjTk5UU_0"/>
              </a:rPr>
              <a:t>UPSERT </a:t>
            </a:r>
            <a:r>
              <a:rPr lang="es-CO" b="1" i="0" dirty="0" err="1">
                <a:effectLst/>
                <a:latin typeface="YAFdJjTk5UU_0"/>
              </a:rPr>
              <a:t>On</a:t>
            </a:r>
            <a:r>
              <a:rPr lang="es-CO" b="1" i="0" dirty="0">
                <a:effectLst/>
                <a:latin typeface="YAFdJjTk5UU_0"/>
              </a:rPr>
              <a:t> </a:t>
            </a:r>
            <a:r>
              <a:rPr lang="es-CO" b="1" i="0" dirty="0" err="1">
                <a:effectLst/>
                <a:latin typeface="YAFdJjTk5UU_0"/>
              </a:rPr>
              <a:t>Conflict</a:t>
            </a:r>
            <a:endParaRPr lang="es-CO" dirty="0">
              <a:effectLst/>
              <a:latin typeface="YAFdJjTk5UU_0"/>
            </a:endParaRPr>
          </a:p>
          <a:p>
            <a:pPr>
              <a:lnSpc>
                <a:spcPts val="1650"/>
              </a:lnSpc>
              <a:buNone/>
            </a:pPr>
            <a:r>
              <a:rPr lang="es-CO" b="1" i="0" dirty="0">
                <a:effectLst/>
                <a:latin typeface="YAFdJjTk5UU_0"/>
              </a:rPr>
              <a:t>Direct Carga Local</a:t>
            </a:r>
            <a:endParaRPr lang="es-CO" dirty="0">
              <a:effectLst/>
              <a:latin typeface="YAFdJjTk5UU_0"/>
            </a:endParaRP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6852AFD5-D055-0BBB-8E1E-D0515AF22F15}"/>
              </a:ext>
            </a:extLst>
          </p:cNvPr>
          <p:cNvSpPr txBox="1"/>
          <p:nvPr/>
        </p:nvSpPr>
        <p:spPr>
          <a:xfrm>
            <a:off x="12226940" y="6925094"/>
            <a:ext cx="20813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i="0" dirty="0">
                <a:effectLst/>
              </a:rPr>
              <a:t>UPSERT Producción</a:t>
            </a:r>
            <a:endParaRPr lang="es-CO" dirty="0"/>
          </a:p>
        </p:txBody>
      </p:sp>
      <p:sp>
        <p:nvSpPr>
          <p:cNvPr id="89" name="CuadroTexto 88">
            <a:extLst>
              <a:ext uri="{FF2B5EF4-FFF2-40B4-BE49-F238E27FC236}">
                <a16:creationId xmlns:a16="http://schemas.microsoft.com/office/drawing/2014/main" id="{92733C20-E4BE-1A37-161F-9E1BC19EAEF9}"/>
              </a:ext>
            </a:extLst>
          </p:cNvPr>
          <p:cNvSpPr txBox="1"/>
          <p:nvPr/>
        </p:nvSpPr>
        <p:spPr>
          <a:xfrm>
            <a:off x="5927746" y="7926284"/>
            <a:ext cx="1917014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s-CO" b="1" i="0" dirty="0" err="1">
                <a:effectLst/>
              </a:rPr>
              <a:t>Connection</a:t>
            </a:r>
            <a:r>
              <a:rPr lang="es-CO" b="1" i="0" dirty="0">
                <a:effectLst/>
              </a:rPr>
              <a:t> Pool</a:t>
            </a:r>
            <a:endParaRPr lang="es-CO" dirty="0"/>
          </a:p>
        </p:txBody>
      </p:sp>
      <p:sp>
        <p:nvSpPr>
          <p:cNvPr id="91" name="CuadroTexto 90">
            <a:extLst>
              <a:ext uri="{FF2B5EF4-FFF2-40B4-BE49-F238E27FC236}">
                <a16:creationId xmlns:a16="http://schemas.microsoft.com/office/drawing/2014/main" id="{1C66E7C4-F627-37F2-24DC-774248EA28E3}"/>
              </a:ext>
            </a:extLst>
          </p:cNvPr>
          <p:cNvSpPr txBox="1"/>
          <p:nvPr/>
        </p:nvSpPr>
        <p:spPr>
          <a:xfrm>
            <a:off x="2254354" y="4033203"/>
            <a:ext cx="2541082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s-CO" b="1" i="0" dirty="0">
                <a:effectLst/>
              </a:rPr>
              <a:t>HTTPS: API_URL </a:t>
            </a:r>
            <a:r>
              <a:rPr lang="es-CO" b="1" i="0" dirty="0" err="1">
                <a:effectLst/>
              </a:rPr>
              <a:t>env</a:t>
            </a:r>
            <a:r>
              <a:rPr lang="es-CO" b="1" i="0" dirty="0">
                <a:effectLst/>
              </a:rPr>
              <a:t> </a:t>
            </a:r>
            <a:r>
              <a:rPr lang="es-CO" b="1" i="0" dirty="0" err="1">
                <a:effectLst/>
              </a:rPr>
              <a:t>var</a:t>
            </a:r>
            <a:endParaRPr lang="es-CO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end="15214.666"/>
                </p14:media>
              </p:ext>
            </p:extLst>
          </p:nvPr>
        </p:nvPicPr>
        <p:blipFill>
          <a:blip r:embed="rId4"/>
          <a:srcRect/>
          <a:stretch>
            <a:fillRect/>
          </a:stretch>
        </p:blipFill>
        <p:spPr>
          <a:xfrm>
            <a:off x="4086590" y="2243378"/>
            <a:ext cx="13172710" cy="6050823"/>
          </a:xfrm>
          <a:prstGeom prst="rect">
            <a:avLst/>
          </a:prstGeom>
        </p:spPr>
      </p:pic>
      <p:sp>
        <p:nvSpPr>
          <p:cNvPr id="3" name="Freeform 3">
            <a:hlinkClick r:id="rId5" tooltip="https://vitalriskia-frontend.onrender.com"/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5421" y="2065145"/>
            <a:ext cx="1885119" cy="1885119"/>
          </a:xfrm>
          <a:custGeom>
            <a:avLst/>
            <a:gdLst/>
            <a:ahLst/>
            <a:cxnLst/>
            <a:rect l="l" t="t" r="r" b="b"/>
            <a:pathLst>
              <a:path w="1885119" h="1885119">
                <a:moveTo>
                  <a:pt x="0" y="0"/>
                </a:moveTo>
                <a:lnTo>
                  <a:pt x="1885118" y="0"/>
                </a:lnTo>
                <a:lnTo>
                  <a:pt x="1885118" y="1885119"/>
                </a:lnTo>
                <a:lnTo>
                  <a:pt x="0" y="18851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4" name="Freeform 4">
            <a:hlinkClick r:id="rId7" tooltip="https://vitalriskia.onrender.com/docs"/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5421" y="4448825"/>
            <a:ext cx="1885119" cy="1885119"/>
          </a:xfrm>
          <a:custGeom>
            <a:avLst/>
            <a:gdLst/>
            <a:ahLst/>
            <a:cxnLst/>
            <a:rect l="l" t="t" r="r" b="b"/>
            <a:pathLst>
              <a:path w="1885119" h="1885119">
                <a:moveTo>
                  <a:pt x="0" y="0"/>
                </a:moveTo>
                <a:lnTo>
                  <a:pt x="1885118" y="0"/>
                </a:lnTo>
                <a:lnTo>
                  <a:pt x="1885118" y="1885119"/>
                </a:lnTo>
                <a:lnTo>
                  <a:pt x="0" y="18851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O"/>
          </a:p>
        </p:txBody>
      </p:sp>
      <p:sp>
        <p:nvSpPr>
          <p:cNvPr id="5" name="Freeform 5">
            <a:hlinkClick r:id="rId9" tooltip="https://github.com/IsaksGir4/VitalRiskIA.git"/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6736" y="7246820"/>
            <a:ext cx="1802489" cy="1802489"/>
          </a:xfrm>
          <a:custGeom>
            <a:avLst/>
            <a:gdLst/>
            <a:ahLst/>
            <a:cxnLst/>
            <a:rect l="l" t="t" r="r" b="b"/>
            <a:pathLst>
              <a:path w="1802489" h="1802489">
                <a:moveTo>
                  <a:pt x="0" y="0"/>
                </a:moveTo>
                <a:lnTo>
                  <a:pt x="1802489" y="0"/>
                </a:lnTo>
                <a:lnTo>
                  <a:pt x="1802489" y="1802489"/>
                </a:lnTo>
                <a:lnTo>
                  <a:pt x="0" y="18024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6" name="Freeform 6">
            <a:hlinkClick r:id="rId11" tooltip="https://drive.google.com/file/d/1Oyn1mSzyEnpVoTlGvqwJtLfPA3r2_MTm/view?usp=sharing"/>
          </p:cNvPr>
          <p:cNvSpPr/>
          <p:nvPr/>
        </p:nvSpPr>
        <p:spPr>
          <a:xfrm>
            <a:off x="16040800" y="869093"/>
            <a:ext cx="1005677" cy="1005677"/>
          </a:xfrm>
          <a:custGeom>
            <a:avLst/>
            <a:gdLst/>
            <a:ahLst/>
            <a:cxnLst/>
            <a:rect l="l" t="t" r="r" b="b"/>
            <a:pathLst>
              <a:path w="1005677" h="1005677">
                <a:moveTo>
                  <a:pt x="0" y="0"/>
                </a:moveTo>
                <a:lnTo>
                  <a:pt x="1005677" y="0"/>
                </a:lnTo>
                <a:lnTo>
                  <a:pt x="1005677" y="1005677"/>
                </a:lnTo>
                <a:lnTo>
                  <a:pt x="0" y="10056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7" name="TextBox 7"/>
          <p:cNvSpPr txBox="1"/>
          <p:nvPr/>
        </p:nvSpPr>
        <p:spPr>
          <a:xfrm>
            <a:off x="832285" y="6286319"/>
            <a:ext cx="1911389" cy="808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34"/>
              </a:lnSpc>
              <a:spcBef>
                <a:spcPct val="0"/>
              </a:spcBef>
            </a:pPr>
            <a:r>
              <a:rPr lang="en-US" sz="2310" b="1" u="none" strike="noStrike">
                <a:solidFill>
                  <a:srgbClr val="1D4E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API REST &amp; Swagger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0233" y="733070"/>
            <a:ext cx="12442122" cy="1077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59"/>
              </a:lnSpc>
              <a:spcBef>
                <a:spcPct val="0"/>
              </a:spcBef>
            </a:pPr>
            <a:r>
              <a:rPr lang="en-US" sz="7599" b="1" u="none" strike="noStrike" spc="-189">
                <a:solidFill>
                  <a:srgbClr val="0032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Resultados verificables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962601" y="9303613"/>
            <a:ext cx="13296699" cy="231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377" b="1">
                <a:solidFill>
                  <a:srgbClr val="B4B4B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Dashboard: </a:t>
            </a:r>
            <a:r>
              <a:rPr lang="en-US" sz="1377">
                <a:solidFill>
                  <a:srgbClr val="B4B4B4"/>
                </a:solidFill>
                <a:latin typeface="Montserrat"/>
                <a:ea typeface="Montserrat"/>
                <a:cs typeface="Montserrat"/>
                <a:sym typeface="Montserrat"/>
              </a:rPr>
              <a:t>vitalriskia-frontend.onrender.com - </a:t>
            </a:r>
            <a:r>
              <a:rPr lang="en-US" sz="1377" b="1">
                <a:solidFill>
                  <a:srgbClr val="B4B4B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API  REST &amp; Swagger:</a:t>
            </a:r>
            <a:r>
              <a:rPr lang="en-US" sz="1377">
                <a:solidFill>
                  <a:srgbClr val="B4B4B4"/>
                </a:solidFill>
                <a:latin typeface="Montserrat"/>
                <a:ea typeface="Montserrat"/>
                <a:cs typeface="Montserrat"/>
                <a:sym typeface="Montserrat"/>
              </a:rPr>
              <a:t> vitalriskia.onrender.com/docs - </a:t>
            </a:r>
            <a:r>
              <a:rPr lang="en-US" sz="1377" b="1">
                <a:solidFill>
                  <a:srgbClr val="B4B4B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Repositorio: </a:t>
            </a:r>
            <a:r>
              <a:rPr lang="en-US" sz="1377">
                <a:solidFill>
                  <a:srgbClr val="B4B4B4"/>
                </a:solidFill>
                <a:latin typeface="Montserrat"/>
                <a:ea typeface="Montserrat"/>
                <a:cs typeface="Montserrat"/>
                <a:sym typeface="Montserrat"/>
              </a:rPr>
              <a:t>github.com/IsaksGir4/VitalRiskIA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05608" y="3902639"/>
            <a:ext cx="1764744" cy="398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4"/>
              </a:lnSpc>
              <a:spcBef>
                <a:spcPct val="0"/>
              </a:spcBef>
            </a:pPr>
            <a:r>
              <a:rPr lang="en-US" sz="2310" b="1">
                <a:solidFill>
                  <a:srgbClr val="1D4E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07989" y="9001684"/>
            <a:ext cx="1759982" cy="398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34"/>
              </a:lnSpc>
              <a:spcBef>
                <a:spcPct val="0"/>
              </a:spcBef>
            </a:pPr>
            <a:r>
              <a:rPr lang="en-US" sz="2310" b="1" u="none" strike="noStrike">
                <a:solidFill>
                  <a:srgbClr val="1D4E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Repositorio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6327304"/>
            <a:ext cx="873125" cy="879670"/>
            <a:chOff x="0" y="0"/>
            <a:chExt cx="812800" cy="8188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8893"/>
            </a:xfrm>
            <a:custGeom>
              <a:avLst/>
              <a:gdLst/>
              <a:ahLst/>
              <a:cxnLst/>
              <a:rect l="l" t="t" r="r" b="b"/>
              <a:pathLst>
                <a:path w="812800" h="818893">
                  <a:moveTo>
                    <a:pt x="406400" y="0"/>
                  </a:moveTo>
                  <a:cubicBezTo>
                    <a:pt x="181951" y="0"/>
                    <a:pt x="0" y="183316"/>
                    <a:pt x="0" y="409447"/>
                  </a:cubicBezTo>
                  <a:cubicBezTo>
                    <a:pt x="0" y="635578"/>
                    <a:pt x="181951" y="818893"/>
                    <a:pt x="406400" y="818893"/>
                  </a:cubicBezTo>
                  <a:cubicBezTo>
                    <a:pt x="630849" y="818893"/>
                    <a:pt x="812800" y="635578"/>
                    <a:pt x="812800" y="409447"/>
                  </a:cubicBezTo>
                  <a:cubicBezTo>
                    <a:pt x="812800" y="1833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C5A3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29146"/>
              <a:ext cx="660400" cy="7129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3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11748" y="610985"/>
            <a:ext cx="13134437" cy="2134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59"/>
              </a:lnSpc>
            </a:pPr>
            <a:r>
              <a:rPr lang="en-US" sz="7599" b="1" spc="-189">
                <a:solidFill>
                  <a:srgbClr val="1D4E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Impacto en el ecosistema de salud pública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144000" y="4952334"/>
            <a:ext cx="873125" cy="879670"/>
            <a:chOff x="0" y="0"/>
            <a:chExt cx="812800" cy="81889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8893"/>
            </a:xfrm>
            <a:custGeom>
              <a:avLst/>
              <a:gdLst/>
              <a:ahLst/>
              <a:cxnLst/>
              <a:rect l="l" t="t" r="r" b="b"/>
              <a:pathLst>
                <a:path w="812800" h="818893">
                  <a:moveTo>
                    <a:pt x="406400" y="0"/>
                  </a:moveTo>
                  <a:cubicBezTo>
                    <a:pt x="181951" y="0"/>
                    <a:pt x="0" y="183316"/>
                    <a:pt x="0" y="409447"/>
                  </a:cubicBezTo>
                  <a:cubicBezTo>
                    <a:pt x="0" y="635578"/>
                    <a:pt x="181951" y="818893"/>
                    <a:pt x="406400" y="818893"/>
                  </a:cubicBezTo>
                  <a:cubicBezTo>
                    <a:pt x="630849" y="818893"/>
                    <a:pt x="812800" y="635578"/>
                    <a:pt x="812800" y="409447"/>
                  </a:cubicBezTo>
                  <a:cubicBezTo>
                    <a:pt x="812800" y="1833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C5A3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29146"/>
              <a:ext cx="660400" cy="7129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3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44000" y="3579972"/>
            <a:ext cx="873125" cy="879670"/>
            <a:chOff x="0" y="0"/>
            <a:chExt cx="812800" cy="81889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8893"/>
            </a:xfrm>
            <a:custGeom>
              <a:avLst/>
              <a:gdLst/>
              <a:ahLst/>
              <a:cxnLst/>
              <a:rect l="l" t="t" r="r" b="b"/>
              <a:pathLst>
                <a:path w="812800" h="818893">
                  <a:moveTo>
                    <a:pt x="406400" y="0"/>
                  </a:moveTo>
                  <a:cubicBezTo>
                    <a:pt x="181951" y="0"/>
                    <a:pt x="0" y="183316"/>
                    <a:pt x="0" y="409447"/>
                  </a:cubicBezTo>
                  <a:cubicBezTo>
                    <a:pt x="0" y="635578"/>
                    <a:pt x="181951" y="818893"/>
                    <a:pt x="406400" y="818893"/>
                  </a:cubicBezTo>
                  <a:cubicBezTo>
                    <a:pt x="630849" y="818893"/>
                    <a:pt x="812800" y="635578"/>
                    <a:pt x="812800" y="409447"/>
                  </a:cubicBezTo>
                  <a:cubicBezTo>
                    <a:pt x="812800" y="1833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C5A3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29146"/>
              <a:ext cx="660400" cy="7129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3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611748" y="3036675"/>
            <a:ext cx="8590935" cy="7064250"/>
          </a:xfrm>
          <a:custGeom>
            <a:avLst/>
            <a:gdLst/>
            <a:ahLst/>
            <a:cxnLst/>
            <a:rect l="l" t="t" r="r" b="b"/>
            <a:pathLst>
              <a:path w="8590935" h="7064250">
                <a:moveTo>
                  <a:pt x="0" y="0"/>
                </a:moveTo>
                <a:lnTo>
                  <a:pt x="8590936" y="0"/>
                </a:lnTo>
                <a:lnTo>
                  <a:pt x="8590936" y="7064250"/>
                </a:lnTo>
                <a:lnTo>
                  <a:pt x="0" y="7064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67" t="-1556" r="-870" b="-2041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3" name="TextBox 13"/>
          <p:cNvSpPr txBox="1"/>
          <p:nvPr/>
        </p:nvSpPr>
        <p:spPr>
          <a:xfrm>
            <a:off x="9338511" y="3774062"/>
            <a:ext cx="484102" cy="398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4"/>
              </a:lnSpc>
            </a:pPr>
            <a:r>
              <a:rPr lang="en-US" sz="2310" b="1">
                <a:solidFill>
                  <a:srgbClr val="3333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38511" y="5146424"/>
            <a:ext cx="484102" cy="398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4"/>
              </a:lnSpc>
            </a:pPr>
            <a:r>
              <a:rPr lang="en-US" sz="2310" b="1">
                <a:solidFill>
                  <a:srgbClr val="3333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38511" y="6521175"/>
            <a:ext cx="484102" cy="398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4"/>
              </a:lnSpc>
            </a:pPr>
            <a:r>
              <a:rPr lang="en-US" sz="2310" b="1">
                <a:solidFill>
                  <a:srgbClr val="3333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198910" y="7823945"/>
            <a:ext cx="6294601" cy="808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31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Visión: </a:t>
            </a:r>
            <a:r>
              <a:rPr lang="en-US" sz="231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Expansión nacional y otras enfermedades como problemas cardiacos.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198910" y="3539937"/>
            <a:ext cx="7477588" cy="808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4"/>
              </a:lnSpc>
              <a:spcBef>
                <a:spcPct val="0"/>
              </a:spcBef>
            </a:pPr>
            <a:r>
              <a:rPr lang="en-US" sz="231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Población: </a:t>
            </a:r>
            <a:r>
              <a:rPr lang="en-US" sz="231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Beneficios para entes de salud y población general de Antioquia (grupos de riesgo)</a:t>
            </a:r>
            <a:r>
              <a:rPr lang="en-US" sz="231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198910" y="4904709"/>
            <a:ext cx="7477588" cy="808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4"/>
              </a:lnSpc>
              <a:spcBef>
                <a:spcPct val="0"/>
              </a:spcBef>
            </a:pPr>
            <a:r>
              <a:rPr lang="en-US" sz="231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Hallazgo clave: </a:t>
            </a:r>
            <a:r>
              <a:rPr lang="en-US" sz="231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 acceso a la salud impacta más en la IRA que la contaminación ambiental.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198910" y="6364327"/>
            <a:ext cx="7376929" cy="1217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4"/>
              </a:lnSpc>
              <a:spcBef>
                <a:spcPct val="0"/>
              </a:spcBef>
            </a:pPr>
            <a:r>
              <a:rPr lang="en-US" sz="231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Escalabilidad y Sostenibilidad: </a:t>
            </a:r>
            <a:r>
              <a:rPr lang="en-US" sz="231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Alta, basada en datos públicos nacionales y replicable a bajo costo.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154601" y="7752376"/>
            <a:ext cx="873125" cy="879670"/>
            <a:chOff x="0" y="0"/>
            <a:chExt cx="812800" cy="81889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8893"/>
            </a:xfrm>
            <a:custGeom>
              <a:avLst/>
              <a:gdLst/>
              <a:ahLst/>
              <a:cxnLst/>
              <a:rect l="l" t="t" r="r" b="b"/>
              <a:pathLst>
                <a:path w="812800" h="818893">
                  <a:moveTo>
                    <a:pt x="406400" y="0"/>
                  </a:moveTo>
                  <a:cubicBezTo>
                    <a:pt x="181951" y="0"/>
                    <a:pt x="0" y="183316"/>
                    <a:pt x="0" y="409447"/>
                  </a:cubicBezTo>
                  <a:cubicBezTo>
                    <a:pt x="0" y="635578"/>
                    <a:pt x="181951" y="818893"/>
                    <a:pt x="406400" y="818893"/>
                  </a:cubicBezTo>
                  <a:cubicBezTo>
                    <a:pt x="630849" y="818893"/>
                    <a:pt x="812800" y="635578"/>
                    <a:pt x="812800" y="409447"/>
                  </a:cubicBezTo>
                  <a:cubicBezTo>
                    <a:pt x="812800" y="1833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C5A3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29146"/>
              <a:ext cx="660400" cy="7129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3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9349112" y="7946246"/>
            <a:ext cx="484102" cy="398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4"/>
              </a:lnSpc>
            </a:pPr>
            <a:r>
              <a:rPr lang="en-US" sz="2310" b="1">
                <a:solidFill>
                  <a:srgbClr val="3333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005446" y="6516943"/>
            <a:ext cx="14907864" cy="0"/>
          </a:xfrm>
          <a:prstGeom prst="line">
            <a:avLst/>
          </a:prstGeom>
          <a:ln w="19050" cap="flat">
            <a:solidFill>
              <a:srgbClr val="A2C5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/>
          <p:nvPr/>
        </p:nvGrpSpPr>
        <p:grpSpPr>
          <a:xfrm>
            <a:off x="2681596" y="6355018"/>
            <a:ext cx="323850" cy="323850"/>
            <a:chOff x="0" y="0"/>
            <a:chExt cx="6350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D4ED8"/>
            </a:solid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336870" y="6355018"/>
            <a:ext cx="323850" cy="323850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D4ED8"/>
            </a:solid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992143" y="6368966"/>
            <a:ext cx="323850" cy="323850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D4ED8"/>
            </a:solidFill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49380" y="809054"/>
            <a:ext cx="13170165" cy="2134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59"/>
              </a:lnSpc>
              <a:spcBef>
                <a:spcPct val="0"/>
              </a:spcBef>
            </a:pPr>
            <a:r>
              <a:rPr lang="en-US" sz="7599" b="1" spc="-189">
                <a:solidFill>
                  <a:srgbClr val="1E9F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Limitaci</a:t>
            </a:r>
            <a:r>
              <a:rPr lang="en-US" sz="7599" b="1" u="none" strike="noStrike" spc="-189">
                <a:solidFill>
                  <a:srgbClr val="1E9F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ones</a:t>
            </a:r>
            <a:r>
              <a:rPr lang="en-US" sz="7599" b="1" u="none" strike="noStrike" spc="-189">
                <a:solidFill>
                  <a:srgbClr val="1D4E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, </a:t>
            </a:r>
            <a:r>
              <a:rPr lang="en-US" sz="7599" b="1" u="none" strike="noStrike" spc="-189">
                <a:solidFill>
                  <a:srgbClr val="0057A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Sesgos</a:t>
            </a:r>
            <a:r>
              <a:rPr lang="en-US" sz="7599" b="1" u="none" strike="noStrike" spc="-189">
                <a:solidFill>
                  <a:srgbClr val="1D4E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y Hoja de Ruta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679145" y="5302188"/>
            <a:ext cx="2876550" cy="47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b="1" u="none" strike="noStrike">
                <a:solidFill>
                  <a:srgbClr val="1D4E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Corto Plazo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681596" y="7221793"/>
            <a:ext cx="3355802" cy="2491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Integración y optimización de datos (SIVIGILA, SIATA), notificaciones automáticas y correcciones.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36870" y="5325660"/>
            <a:ext cx="2876550" cy="47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b="1" u="none" strike="noStrike">
                <a:solidFill>
                  <a:srgbClr val="1D4E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Mediano Plazo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336870" y="7202743"/>
            <a:ext cx="3421905" cy="2491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Expansión a otras enfermedades y departamentos, validación avanzada de alertas y API pública.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992143" y="5325660"/>
            <a:ext cx="2876550" cy="47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b="1" u="none" strike="noStrike">
                <a:solidFill>
                  <a:srgbClr val="1D4E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Largo Plazo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992143" y="7221793"/>
            <a:ext cx="3462291" cy="2491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Modelos avanzados (IA/satelitales), reportes automatizados y escalamiento nacional completo.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4690" y="5898240"/>
            <a:ext cx="1911310" cy="1217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34"/>
              </a:lnSpc>
              <a:spcBef>
                <a:spcPct val="0"/>
              </a:spcBef>
            </a:pPr>
            <a:r>
              <a:rPr lang="en-US" sz="2310" b="1" dirty="0">
                <a:solidFill>
                  <a:srgbClr val="1D4E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MVP </a:t>
            </a:r>
          </a:p>
          <a:p>
            <a:pPr algn="ctr">
              <a:lnSpc>
                <a:spcPts val="3234"/>
              </a:lnSpc>
              <a:spcBef>
                <a:spcPct val="0"/>
              </a:spcBef>
            </a:pPr>
            <a:r>
              <a:rPr lang="en-US" sz="2310" b="1" dirty="0" err="1">
                <a:solidFill>
                  <a:srgbClr val="1D4E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</a:t>
            </a:r>
            <a:endParaRPr lang="en-US" sz="2310" b="1" dirty="0">
              <a:solidFill>
                <a:srgbClr val="1D4ED8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ctr">
              <a:lnSpc>
                <a:spcPts val="3234"/>
              </a:lnSpc>
              <a:spcBef>
                <a:spcPct val="0"/>
              </a:spcBef>
            </a:pPr>
            <a:r>
              <a:rPr lang="en-US" sz="2310" b="1" dirty="0" err="1">
                <a:solidFill>
                  <a:srgbClr val="1D4E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Producción</a:t>
            </a:r>
            <a:endParaRPr lang="en-US" sz="2310" b="1" dirty="0">
              <a:solidFill>
                <a:srgbClr val="1D4ED8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13125967" y="732854"/>
            <a:ext cx="4743873" cy="1156705"/>
            <a:chOff x="0" y="0"/>
            <a:chExt cx="1162568" cy="28347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62568" cy="283470"/>
            </a:xfrm>
            <a:custGeom>
              <a:avLst/>
              <a:gdLst/>
              <a:ahLst/>
              <a:cxnLst/>
              <a:rect l="l" t="t" r="r" b="b"/>
              <a:pathLst>
                <a:path w="1162568" h="283470">
                  <a:moveTo>
                    <a:pt x="83231" y="0"/>
                  </a:moveTo>
                  <a:lnTo>
                    <a:pt x="1079337" y="0"/>
                  </a:lnTo>
                  <a:cubicBezTo>
                    <a:pt x="1125304" y="0"/>
                    <a:pt x="1162568" y="37264"/>
                    <a:pt x="1162568" y="83231"/>
                  </a:cubicBezTo>
                  <a:lnTo>
                    <a:pt x="1162568" y="200239"/>
                  </a:lnTo>
                  <a:cubicBezTo>
                    <a:pt x="1162568" y="246207"/>
                    <a:pt x="1125304" y="283470"/>
                    <a:pt x="1079337" y="283470"/>
                  </a:cubicBezTo>
                  <a:lnTo>
                    <a:pt x="83231" y="283470"/>
                  </a:lnTo>
                  <a:cubicBezTo>
                    <a:pt x="37264" y="283470"/>
                    <a:pt x="0" y="246207"/>
                    <a:pt x="0" y="200239"/>
                  </a:cubicBezTo>
                  <a:lnTo>
                    <a:pt x="0" y="83231"/>
                  </a:lnTo>
                  <a:cubicBezTo>
                    <a:pt x="0" y="37264"/>
                    <a:pt x="37264" y="0"/>
                    <a:pt x="83231" y="0"/>
                  </a:cubicBezTo>
                  <a:close/>
                </a:path>
              </a:pathLst>
            </a:custGeom>
            <a:ln w="38100" cap="rnd">
              <a:solidFill>
                <a:srgbClr val="1E9F9D"/>
              </a:solidFill>
              <a:prstDash val="dash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66675"/>
              <a:ext cx="1162568" cy="350145"/>
            </a:xfrm>
            <a:prstGeom prst="rect">
              <a:avLst/>
            </a:prstGeom>
          </p:spPr>
          <p:txBody>
            <a:bodyPr lIns="54595" tIns="54595" rIns="54595" bIns="54595" rtlCol="0" anchor="ctr"/>
            <a:lstStyle/>
            <a:p>
              <a:pPr algn="ctr">
                <a:lnSpc>
                  <a:spcPts val="2746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120082" y="2105834"/>
            <a:ext cx="4755643" cy="993045"/>
            <a:chOff x="0" y="0"/>
            <a:chExt cx="1165452" cy="24336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65452" cy="243363"/>
            </a:xfrm>
            <a:custGeom>
              <a:avLst/>
              <a:gdLst/>
              <a:ahLst/>
              <a:cxnLst/>
              <a:rect l="l" t="t" r="r" b="b"/>
              <a:pathLst>
                <a:path w="1165452" h="243363">
                  <a:moveTo>
                    <a:pt x="83025" y="0"/>
                  </a:moveTo>
                  <a:lnTo>
                    <a:pt x="1082427" y="0"/>
                  </a:lnTo>
                  <a:cubicBezTo>
                    <a:pt x="1104447" y="0"/>
                    <a:pt x="1125565" y="8747"/>
                    <a:pt x="1141135" y="24318"/>
                  </a:cubicBezTo>
                  <a:cubicBezTo>
                    <a:pt x="1156705" y="39888"/>
                    <a:pt x="1165452" y="61006"/>
                    <a:pt x="1165452" y="83025"/>
                  </a:cubicBezTo>
                  <a:lnTo>
                    <a:pt x="1165452" y="160338"/>
                  </a:lnTo>
                  <a:cubicBezTo>
                    <a:pt x="1165452" y="182357"/>
                    <a:pt x="1156705" y="203475"/>
                    <a:pt x="1141135" y="219045"/>
                  </a:cubicBezTo>
                  <a:cubicBezTo>
                    <a:pt x="1125565" y="234615"/>
                    <a:pt x="1104447" y="243363"/>
                    <a:pt x="1082427" y="243363"/>
                  </a:cubicBezTo>
                  <a:lnTo>
                    <a:pt x="83025" y="243363"/>
                  </a:lnTo>
                  <a:cubicBezTo>
                    <a:pt x="61006" y="243363"/>
                    <a:pt x="39888" y="234615"/>
                    <a:pt x="24318" y="219045"/>
                  </a:cubicBezTo>
                  <a:cubicBezTo>
                    <a:pt x="8747" y="203475"/>
                    <a:pt x="0" y="182357"/>
                    <a:pt x="0" y="160338"/>
                  </a:cubicBezTo>
                  <a:lnTo>
                    <a:pt x="0" y="83025"/>
                  </a:lnTo>
                  <a:cubicBezTo>
                    <a:pt x="0" y="61006"/>
                    <a:pt x="8747" y="39888"/>
                    <a:pt x="24318" y="24318"/>
                  </a:cubicBezTo>
                  <a:cubicBezTo>
                    <a:pt x="39888" y="8747"/>
                    <a:pt x="61006" y="0"/>
                    <a:pt x="8302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57A3"/>
              </a:solidFill>
              <a:prstDash val="dash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66675"/>
              <a:ext cx="1165452" cy="310038"/>
            </a:xfrm>
            <a:prstGeom prst="rect">
              <a:avLst/>
            </a:prstGeom>
          </p:spPr>
          <p:txBody>
            <a:bodyPr lIns="54595" tIns="54595" rIns="54595" bIns="54595" rtlCol="0" anchor="ctr"/>
            <a:lstStyle/>
            <a:p>
              <a:pPr algn="ctr">
                <a:lnSpc>
                  <a:spcPts val="2746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3125967" y="3317953"/>
            <a:ext cx="4743873" cy="1149294"/>
            <a:chOff x="0" y="0"/>
            <a:chExt cx="1162568" cy="28165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162568" cy="281654"/>
            </a:xfrm>
            <a:custGeom>
              <a:avLst/>
              <a:gdLst/>
              <a:ahLst/>
              <a:cxnLst/>
              <a:rect l="l" t="t" r="r" b="b"/>
              <a:pathLst>
                <a:path w="1162568" h="281654">
                  <a:moveTo>
                    <a:pt x="83231" y="0"/>
                  </a:moveTo>
                  <a:lnTo>
                    <a:pt x="1079337" y="0"/>
                  </a:lnTo>
                  <a:cubicBezTo>
                    <a:pt x="1125304" y="0"/>
                    <a:pt x="1162568" y="37264"/>
                    <a:pt x="1162568" y="83231"/>
                  </a:cubicBezTo>
                  <a:lnTo>
                    <a:pt x="1162568" y="198423"/>
                  </a:lnTo>
                  <a:cubicBezTo>
                    <a:pt x="1162568" y="244390"/>
                    <a:pt x="1125304" y="281654"/>
                    <a:pt x="1079337" y="281654"/>
                  </a:cubicBezTo>
                  <a:lnTo>
                    <a:pt x="83231" y="281654"/>
                  </a:lnTo>
                  <a:cubicBezTo>
                    <a:pt x="37264" y="281654"/>
                    <a:pt x="0" y="244390"/>
                    <a:pt x="0" y="198423"/>
                  </a:cubicBezTo>
                  <a:lnTo>
                    <a:pt x="0" y="83231"/>
                  </a:lnTo>
                  <a:cubicBezTo>
                    <a:pt x="0" y="37264"/>
                    <a:pt x="37264" y="0"/>
                    <a:pt x="8323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57A3"/>
              </a:solidFill>
              <a:prstDash val="dash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66675"/>
              <a:ext cx="1162568" cy="348329"/>
            </a:xfrm>
            <a:prstGeom prst="rect">
              <a:avLst/>
            </a:prstGeom>
          </p:spPr>
          <p:txBody>
            <a:bodyPr lIns="54595" tIns="54595" rIns="54595" bIns="54595" rtlCol="0" anchor="ctr"/>
            <a:lstStyle/>
            <a:p>
              <a:pPr algn="ctr">
                <a:lnSpc>
                  <a:spcPts val="2746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3401416" y="918918"/>
            <a:ext cx="4192975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9"/>
              </a:lnSpc>
              <a:spcBef>
                <a:spcPct val="0"/>
              </a:spcBef>
            </a:pPr>
            <a:r>
              <a:rPr lang="en-US" sz="2199" b="1" u="none" strike="noStrik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38/103 Municipios con estacion IDEAM directa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379695" y="2189650"/>
            <a:ext cx="4236417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9"/>
              </a:lnSpc>
              <a:spcBef>
                <a:spcPct val="0"/>
              </a:spcBef>
            </a:pPr>
            <a:r>
              <a:rPr lang="en-US" sz="2199" b="1" u="none" strike="noStrik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Municipios rurales subreportan IRA al SIVIGILA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352502" y="3466635"/>
            <a:ext cx="4290803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Período 2020-2021 marcado con feature binaria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109696" y="2391331"/>
            <a:ext cx="1285966" cy="1284605"/>
          </a:xfrm>
          <a:custGeom>
            <a:avLst/>
            <a:gdLst/>
            <a:ahLst/>
            <a:cxnLst/>
            <a:rect l="l" t="t" r="r" b="b"/>
            <a:pathLst>
              <a:path w="1285966" h="1284605">
                <a:moveTo>
                  <a:pt x="0" y="0"/>
                </a:moveTo>
                <a:lnTo>
                  <a:pt x="1285966" y="0"/>
                </a:lnTo>
                <a:lnTo>
                  <a:pt x="1285966" y="1284606"/>
                </a:lnTo>
                <a:lnTo>
                  <a:pt x="0" y="12846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Freeform 3"/>
          <p:cNvSpPr/>
          <p:nvPr/>
        </p:nvSpPr>
        <p:spPr>
          <a:xfrm>
            <a:off x="6773715" y="2391331"/>
            <a:ext cx="1937067" cy="1479435"/>
          </a:xfrm>
          <a:custGeom>
            <a:avLst/>
            <a:gdLst/>
            <a:ahLst/>
            <a:cxnLst/>
            <a:rect l="l" t="t" r="r" b="b"/>
            <a:pathLst>
              <a:path w="1937067" h="1479435">
                <a:moveTo>
                  <a:pt x="0" y="0"/>
                </a:moveTo>
                <a:lnTo>
                  <a:pt x="1937067" y="0"/>
                </a:lnTo>
                <a:lnTo>
                  <a:pt x="1937067" y="1479435"/>
                </a:lnTo>
                <a:lnTo>
                  <a:pt x="0" y="14794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O"/>
          </a:p>
        </p:txBody>
      </p:sp>
      <p:sp>
        <p:nvSpPr>
          <p:cNvPr id="4" name="Freeform 4"/>
          <p:cNvSpPr/>
          <p:nvPr/>
        </p:nvSpPr>
        <p:spPr>
          <a:xfrm>
            <a:off x="12172950" y="2117688"/>
            <a:ext cx="1485034" cy="2026722"/>
          </a:xfrm>
          <a:custGeom>
            <a:avLst/>
            <a:gdLst/>
            <a:ahLst/>
            <a:cxnLst/>
            <a:rect l="l" t="t" r="r" b="b"/>
            <a:pathLst>
              <a:path w="1485034" h="2026722">
                <a:moveTo>
                  <a:pt x="0" y="0"/>
                </a:moveTo>
                <a:lnTo>
                  <a:pt x="1485034" y="0"/>
                </a:lnTo>
                <a:lnTo>
                  <a:pt x="1485034" y="2026722"/>
                </a:lnTo>
                <a:lnTo>
                  <a:pt x="0" y="20267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5" name="TextBox 5"/>
          <p:cNvSpPr txBox="1"/>
          <p:nvPr/>
        </p:nvSpPr>
        <p:spPr>
          <a:xfrm>
            <a:off x="666750" y="742950"/>
            <a:ext cx="11506200" cy="1077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59"/>
              </a:lnSpc>
            </a:pPr>
            <a:r>
              <a:rPr lang="en-US" sz="7599" b="1" spc="-189">
                <a:solidFill>
                  <a:srgbClr val="1D4E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¿Por qué elegir?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85850" y="4429125"/>
            <a:ext cx="4619625" cy="47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</a:pPr>
            <a:r>
              <a:rPr lang="en-US" sz="2799" b="1">
                <a:solidFill>
                  <a:srgbClr val="1D4E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MVP Verificable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85850" y="5238591"/>
            <a:ext cx="4327100" cy="3443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919"/>
              </a:lnSpc>
            </a:pPr>
            <a:r>
              <a:rPr lang="en-US" sz="2799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El modelo está </a:t>
            </a:r>
            <a:r>
              <a:rPr lang="en-US" sz="2799" b="1">
                <a:solidFill>
                  <a:srgbClr val="3333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entrenado y documentado</a:t>
            </a:r>
            <a:r>
              <a:rPr lang="en-US" sz="2799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, disponible públicamente en la nube para su verificación inmediata.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20019" y="4429125"/>
            <a:ext cx="4581525" cy="47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</a:pPr>
            <a:r>
              <a:rPr lang="en-US" sz="2799" b="1">
                <a:solidFill>
                  <a:srgbClr val="1D4E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Equidad Territorial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20019" y="5238591"/>
            <a:ext cx="4289000" cy="2453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919"/>
              </a:lnSpc>
            </a:pPr>
            <a:r>
              <a:rPr lang="en-US" sz="2799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Cubre </a:t>
            </a:r>
            <a:r>
              <a:rPr lang="en-US" sz="2799" b="1">
                <a:solidFill>
                  <a:srgbClr val="3333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103 municipios</a:t>
            </a:r>
            <a:r>
              <a:rPr lang="en-US" sz="2799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, priorizando áreas rurales con mayores tasas de incidencia y acceso a la salud.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715919" y="4446634"/>
            <a:ext cx="4391025" cy="47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</a:pPr>
            <a:r>
              <a:rPr lang="en-US" sz="2799" b="1">
                <a:solidFill>
                  <a:srgbClr val="1D4E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Rigor Técnico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15919" y="5095875"/>
            <a:ext cx="5334886" cy="4434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919"/>
              </a:lnSpc>
            </a:pPr>
            <a:r>
              <a:rPr lang="en-US" sz="2799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Cada alerta se basa en principios </a:t>
            </a:r>
            <a:r>
              <a:rPr lang="en-US" sz="2799" b="1">
                <a:solidFill>
                  <a:srgbClr val="3333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matemáticos claros</a:t>
            </a:r>
            <a:r>
              <a:rPr lang="en-US" sz="2799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, garantizando transparencia y Transparencia total: sesgos documentados (cobertura IDEAM, subreporte SIVIGILA), COVID tratado como variable de control.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7199954"/>
            <a:ext cx="7191375" cy="964644"/>
            <a:chOff x="0" y="0"/>
            <a:chExt cx="9588500" cy="1286192"/>
          </a:xfrm>
        </p:grpSpPr>
        <p:sp>
          <p:nvSpPr>
            <p:cNvPr id="3" name="TextBox 3"/>
            <p:cNvSpPr txBox="1"/>
            <p:nvPr/>
          </p:nvSpPr>
          <p:spPr>
            <a:xfrm>
              <a:off x="0" y="-38100"/>
              <a:ext cx="9588500" cy="5156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3333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isaac.giraldo@eia.edu.co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770572"/>
              <a:ext cx="9588500" cy="5156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3333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luisa5464713@gmail.com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4548188"/>
            <a:ext cx="7707529" cy="2111576"/>
            <a:chOff x="0" y="0"/>
            <a:chExt cx="10276705" cy="2815435"/>
          </a:xfrm>
        </p:grpSpPr>
        <p:sp>
          <p:nvSpPr>
            <p:cNvPr id="6" name="TextBox 6"/>
            <p:cNvSpPr txBox="1"/>
            <p:nvPr/>
          </p:nvSpPr>
          <p:spPr>
            <a:xfrm>
              <a:off x="0" y="95250"/>
              <a:ext cx="10276705" cy="17683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128"/>
                </a:lnSpc>
              </a:pPr>
              <a:r>
                <a:rPr lang="en-US" sz="9207" b="1" spc="-230">
                  <a:solidFill>
                    <a:srgbClr val="1D4ED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Gracias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214839"/>
              <a:ext cx="10276705" cy="6005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79"/>
                </a:lnSpc>
              </a:pPr>
              <a:r>
                <a:rPr lang="en-US" sz="2907" b="1">
                  <a:solidFill>
                    <a:srgbClr val="1D4ED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CONTACTO</a:t>
              </a:r>
            </a:p>
          </p:txBody>
        </p:sp>
      </p:grpSp>
      <p:sp>
        <p:nvSpPr>
          <p:cNvPr id="8" name="Freeform 8">
            <a:hlinkClick r:id="rId2" tooltip="https://vitalriskia-frontend.onrender.com"/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3648" y="1378064"/>
            <a:ext cx="6340247" cy="6340247"/>
          </a:xfrm>
          <a:custGeom>
            <a:avLst/>
            <a:gdLst/>
            <a:ahLst/>
            <a:cxnLst/>
            <a:rect l="l" t="t" r="r" b="b"/>
            <a:pathLst>
              <a:path w="6340247" h="6340247">
                <a:moveTo>
                  <a:pt x="0" y="0"/>
                </a:moveTo>
                <a:lnTo>
                  <a:pt x="6340247" y="0"/>
                </a:lnTo>
                <a:lnTo>
                  <a:pt x="6340247" y="6340247"/>
                </a:lnTo>
                <a:lnTo>
                  <a:pt x="0" y="63402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9" name="TextBox 9"/>
          <p:cNvSpPr txBox="1"/>
          <p:nvPr/>
        </p:nvSpPr>
        <p:spPr>
          <a:xfrm>
            <a:off x="948084" y="8033153"/>
            <a:ext cx="7477274" cy="1509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87"/>
              </a:lnSpc>
            </a:pPr>
            <a:r>
              <a:rPr lang="en-US" sz="5352" b="1" spc="-133">
                <a:solidFill>
                  <a:srgbClr val="1D4E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¡Visite el sistema en vivo ahora!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00" y="1598587"/>
            <a:ext cx="7859929" cy="2036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4"/>
              </a:lnSpc>
              <a:spcBef>
                <a:spcPct val="0"/>
              </a:spcBef>
            </a:pPr>
            <a:r>
              <a:rPr lang="en-US" sz="2310" i="1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La salud pública de Antioquia no puede permitirse seguir reaccionando al pasado.</a:t>
            </a:r>
          </a:p>
          <a:p>
            <a:pPr algn="ctr">
              <a:lnSpc>
                <a:spcPts val="3234"/>
              </a:lnSpc>
              <a:spcBef>
                <a:spcPct val="0"/>
              </a:spcBef>
            </a:pPr>
            <a:endParaRPr lang="en-US" sz="2310" i="1">
              <a:solidFill>
                <a:srgbClr val="000000"/>
              </a:solidFill>
              <a:latin typeface="Montserrat Italics"/>
              <a:ea typeface="Montserrat Italics"/>
              <a:cs typeface="Montserrat Italics"/>
              <a:sym typeface="Montserrat Italics"/>
            </a:endParaRPr>
          </a:p>
          <a:p>
            <a:pPr algn="ctr">
              <a:lnSpc>
                <a:spcPts val="3234"/>
              </a:lnSpc>
              <a:spcBef>
                <a:spcPct val="0"/>
              </a:spcBef>
            </a:pPr>
            <a:r>
              <a:rPr lang="en-US" sz="2310" i="1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VitalRisk AI habilita la infraestructura para adelantarnos al futuro.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748</Words>
  <Application>Microsoft Office PowerPoint</Application>
  <PresentationFormat>Personalizado</PresentationFormat>
  <Paragraphs>158</Paragraphs>
  <Slides>12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21" baseType="lpstr">
      <vt:lpstr>Calibri</vt:lpstr>
      <vt:lpstr>Montserrat Bold</vt:lpstr>
      <vt:lpstr>Montserrat Italics</vt:lpstr>
      <vt:lpstr>Canva Sans Bold</vt:lpstr>
      <vt:lpstr>Arial</vt:lpstr>
      <vt:lpstr>YAFdJjTk5UU_0</vt:lpstr>
      <vt:lpstr>Montserrat</vt:lpstr>
      <vt:lpstr>Montserrat Bold Italics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VitalRisk AI</dc:title>
  <dc:description>Presentación - Preventiva Territorial en Salud</dc:description>
  <cp:lastModifiedBy>Isaac Camilo Giraldo Gómez</cp:lastModifiedBy>
  <cp:revision>3</cp:revision>
  <dcterms:created xsi:type="dcterms:W3CDTF">2006-08-16T00:00:00Z</dcterms:created>
  <dcterms:modified xsi:type="dcterms:W3CDTF">2026-07-14T02:43:29Z</dcterms:modified>
  <dc:identifier>DAHPN2XQHL0</dc:identifier>
</cp:coreProperties>
</file>